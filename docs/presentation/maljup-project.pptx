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좋아하는 한마디를 주워,</a:t>
            </a:r>
          </a:p>
          <a:p>
            <a:r>
              <a:t>내 말로.</a:t>
            </a:r>
          </a:p>
          <a:p/>
          <a:p>
            <a:r>
              <a:t>본 자료는 현재 저장소 코드와 로컬 실행 화면을 기준으로 작성했습니다. 실제 Render 환경 변수·유료 자원 설정, 실물 iPhone 마이크·푸시 수신 여부는 별도 검증 대상입니다. 예시 화면은 데모 데이터입니다.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말줍은 영상 속 표현을 학습 루틴으로 바꿉니다.</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“본 표현”이 “쓸 수 있는 표현”이 되도록</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PC에서는 깊게 읽고, 아이폰에서는 가볍게 이어갑니다.</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구현된 범위와 앞으로의 확장을 분리했습니다.</a:t>
            </a:r>
          </a:p>
          <a:p/>
          <a:p>
            <a:r>
              <a:t>초기 아이디어의 캡처+AI 받아쓰기 통합은 현재 구현되지 않았습니다. 공개 자막과 SRT/VTT 파일을 읽는 기능이 구현 범위입니다. 푸시가 구현되었다는 사실과 실제 Render/아이폰에서 작동 검증이 끝났다는 사실을 혼동하지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하나의 문장이 쌓이고, 학습 행동으로 이어지는 흐름</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사이트맵: 7개 메뉴와 스크립트 작업 화면</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메인 화면은 주소 입력과 최근 학습에 집중합니다.</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모바일은 스크립트를 읽으며 오른쪽 메모판으로 수집합니다.</a:t>
            </a:r>
          </a:p>
          <a:p/>
          <a:p>
            <a:r>
              <a:t>최근 요청 반영: 별도 메모 타이핑 칸 및 하단 상세 목록은 모바일 수집판에서 제거했습니다. 학습 메모는 문장 카드 상세에서 작성합니다. 실물 iPhone의 선택·드래그는 추가 확인 대상이며 터치 Chromium 회귀 테스트를 실행했습니다.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자막은 “공개 자막 가져오기”를 기본으로 합니다.</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형광펜 색을 정보의 분류 체계로 사용합니다.</a:t>
            </a:r>
          </a:p>
          <a:p/>
          <a:p>
            <a:r>
              <a:t>기본 카테고리는 단어·문장·표현·질문·문법이며 데스크탑 상세 도구에서 색상별 분류명을 설정할 수 있습니다. 모바일 간단 수집판은 불필요한 설정을 숨깁니다.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학습 카드에는 문장뿐 아니라 맥락을 남깁니다.</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세 번의 복습과 암기 상태를 함께 관리합니다.</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녹음 보관함에서 바로 말하고, 아래 목록에서 다시 듣습니다.</a:t>
            </a:r>
          </a:p>
          <a:p/>
          <a:p>
            <a:r>
              <a:t>MediaRecorder 기반으로 녹음하며 iOS에서는 지원되는 audio/mp4를 우선 선택합니다. 저장은 IndexedDB이며 녹음 보관함은 최신순입니다. 카드 상세의 따라 말하기 녹음도 유지합니다. 화면의 데모 파일은 생성한 무음 WAV로 실제 마이크 녹음이 아닙니다. 아이폰 실물 마이크·오디오 재생은 별도 검증이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Google Sheets는 문장·메모를 내 계정에 내보내는 경로입니다.</a:t>
            </a:r>
          </a:p>
          <a:p/>
          <a:p>
            <a:r>
              <a:t>클라이언트 공개 ID와 승인된 HTTPS 원본이 필요하며 Google Sheets API를 활성화해야 합니다. 사용자는 연결 성공을 보고했으나 본 문서는 사용자 계정의 파일 내용이나 현재 권한을 독립 검증한 자료가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예약한 문장을 연결된 아이폰의 웹 푸시로 전달합니다.</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아이폰 11: Safari에서 홈 화면에 추가한 뒤 알림을 허용합니다.</a:t>
            </a:r>
          </a:p>
          <a:p/>
          <a:p>
            <a:r>
              <a:t>Render 사전 설정: VAPID_PUBLIC_KEY, VAPID_PRIVATE_KEY, VAPID_SUBJECT, PUSH_DATA_DIR=/var/data 및 영구 Disk, 유휴 정지되지 않는 인스턴스. 비용은 요금제를 확인하며 앱 기본 알람 같은 강제 소리는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부드러운 민트와 명확한 인터랙션으로 통일합니다.</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브라우저 학습 데이터와 서버 연동 기능을 분리합니다.</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데이터 모델: 개인 학습 원본은 IndexedDB에 저장합니다.</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제작 방법: 작은 모듈을 연결하고 실제 동작을 검증합니다.</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핵심 코드 01 — 자막 입력 검증과 제공자 선택</a:t>
            </a:r>
          </a:p>
          <a:p/>
          <a:p>
            <a:r>
              <a:t>원본: https://github.com/Min8309/esl_101/blob/main/youtube-transcript.mjs</a:t>
            </a:r>
          </a:p>
          <a:p>
            <a:r>
              <a:t>const input = transcriptInput(value, language);</a:t>
            </a:r>
          </a:p>
          <a:p>
            <a:r>
              <a:t>const provider = process.env.TRANSCRIPT_PROVIDER</a:t>
            </a:r>
          </a:p>
          <a:p>
            <a:r>
              <a:t>  || (process.env.SUPADATA_API_KEY?.trim()</a:t>
            </a:r>
          </a:p>
          <a:p>
            <a:r>
              <a:t>      ? 'supadata' : 'local');</a:t>
            </a:r>
          </a:p>
          <a:p>
            <a:r>
              <a:t>if (provider === 'supadata')</a:t>
            </a:r>
          </a:p>
          <a:p>
            <a:r>
              <a:t>  return supadata(input);</a:t>
            </a:r>
          </a:p>
          <a:p>
            <a:r>
              <a:t>YouTube 영상 ID·언어를 먼저 검증합니다.</a:t>
            </a:r>
          </a:p>
          <a:p/>
          <a:p>
            <a:r>
              <a:t>API 키가 있으면 Supadata, 명시한 local 설정이면 Python 추출기를 사용합니다.</a:t>
            </a:r>
          </a:p>
          <a:p/>
          <a:p>
            <a:r>
              <a:t>잘못된 설정은 명확한 오류로 처리합니다.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핵심 코드 02 — 정확한 부분 선택과 중복 수집 방지</a:t>
            </a:r>
          </a:p>
          <a:p/>
          <a:p>
            <a:r>
              <a:t>원본: https://github.com/Min8309/esl_101/blob/main/src/transcript-workspace.js · src/app.js</a:t>
            </a:r>
          </a:p>
          <a:p>
            <a:r>
              <a:t>// highlighted substring anchor</a:t>
            </a:r>
          </a:p>
          <a:p>
            <a:r>
              <a:t>{ cue, start, end, text }</a:t>
            </a:r>
          </a:p>
          <a:p/>
          <a:p>
            <a:r>
              <a:t>// same phrase, video, time and category</a:t>
            </a:r>
          </a:p>
          <a:p>
            <a:r>
              <a:t>c.text === item.text</a:t>
            </a:r>
          </a:p>
          <a:p>
            <a:r>
              <a:t>  &amp;&amp; sameVideo(c.url, item.url)</a:t>
            </a:r>
          </a:p>
          <a:p>
            <a:r>
              <a:t>  &amp;&amp; c.start === item.start</a:t>
            </a:r>
          </a:p>
          <a:p>
            <a:r>
              <a:t>  &amp;&amp; (c.category || '일반') === item.category</a:t>
            </a:r>
          </a:p>
          <a:p>
            <a:r>
              <a:t>화면 위치 대신 문장 번호·문자 오프셋으로 저장합니다.</a:t>
            </a:r>
          </a:p>
          <a:p/>
          <a:p>
            <a:r>
              <a:t>원본과 선택 문자열이 일치해야 유효합니다.</a:t>
            </a:r>
          </a:p>
          <a:p/>
          <a:p>
            <a:r>
              <a:t>같은 자료를 다시 수집하면 0개 성공 대신 중복 안내를 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핵심 코드 03 — 녹음 상태와 늦은 권한 응답 처리</a:t>
            </a:r>
          </a:p>
          <a:p/>
          <a:p>
            <a:r>
              <a:t>원본: https://github.com/Min8309/esl_101/blob/main/src/archive-recorder.js</a:t>
            </a:r>
          </a:p>
          <a:p>
            <a:r>
              <a:t>const stream = await navigator.mediaDevices</a:t>
            </a:r>
          </a:p>
          <a:p>
            <a:r>
              <a:t>  .getUserMedia({ audio: true });</a:t>
            </a:r>
          </a:p>
          <a:p>
            <a:r>
              <a:t>if (session !== this.session</a:t>
            </a:r>
          </a:p>
          <a:p>
            <a:r>
              <a:t>    || !root.isConnected) {</a:t>
            </a:r>
          </a:p>
          <a:p>
            <a:r>
              <a:t>  stream.getTracks().forEach(t =&gt; t.stop());</a:t>
            </a:r>
          </a:p>
          <a:p>
            <a:r>
              <a:t>  return;</a:t>
            </a:r>
          </a:p>
          <a:p>
            <a:r>
              <a:t>}</a:t>
            </a:r>
          </a:p>
          <a:p>
            <a:r>
              <a:t>const recorder = new MediaRecorder(stream, options);</a:t>
            </a:r>
          </a:p>
          <a:p>
            <a:r>
              <a:t>idle → 권한 요청 → recording → preview → saving</a:t>
            </a:r>
          </a:p>
          <a:p/>
          <a:p>
            <a:r>
              <a:t>권한 요청 중 화면을 벗어나면 늦게 열린 마이크도 즉시 해제합니다.</a:t>
            </a:r>
          </a:p>
          <a:p/>
          <a:p>
            <a:r>
              <a:t>MediaRecorder는 원본에서 지원 MIME을 고른 뒤 options를 구성합니다.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핵심 코드 04 — Google Sheets에 안전한 값으로 쓰기</a:t>
            </a:r>
          </a:p>
          <a:p/>
          <a:p>
            <a:r>
              <a:t>원본: https://github.com/Min8309/esl_101/blob/main/src/google-sheets.js</a:t>
            </a:r>
          </a:p>
          <a:p>
            <a:r>
              <a:t>fetch('https://sheets.googleapis.com/v4/'</a:t>
            </a:r>
          </a:p>
          <a:p>
            <a:r>
              <a:t>  + 'spreadsheets' + path, {</a:t>
            </a:r>
          </a:p>
          <a:p>
            <a:r>
              <a:t>  method: 'POST',</a:t>
            </a:r>
          </a:p>
          <a:p>
            <a:r>
              <a:t>  headers: { Authorization: `Bearer ${token}` },</a:t>
            </a:r>
          </a:p>
          <a:p>
            <a:r>
              <a:t>  body: JSON.stringify(body)</a:t>
            </a:r>
          </a:p>
          <a:p>
            <a:r>
              <a:t>});</a:t>
            </a:r>
          </a:p>
          <a:p>
            <a:r>
              <a:t>// Cells use stringValue / numberValue,</a:t>
            </a:r>
          </a:p>
          <a:p>
            <a:r>
              <a:t>// not interpreted formulas.</a:t>
            </a:r>
          </a:p>
          <a:p>
            <a:r>
              <a:t>OAuth drive.file 범위를 사용합니다.</a:t>
            </a:r>
          </a:p>
          <a:p/>
          <a:p>
            <a:r>
              <a:t>새 시트를 만든 뒤 16개 열의 값으로 기록합니다.</a:t>
            </a:r>
          </a:p>
          <a:p/>
          <a:p>
            <a:r>
              <a:t>문자열은 수식으로 실행하지 않으며 실패하면 부분 생성된 시트도 안내합니다.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핵심 코드 05 — 기기 연결 키와 예약 상태를 분리</a:t>
            </a:r>
          </a:p>
          <a:p/>
          <a:p>
            <a:r>
              <a:t>원본: https://github.com/Min8309/esl_101/blob/main/push-service.mjs · sw.js</a:t>
            </a:r>
          </a:p>
          <a:p>
            <a:r>
              <a:t>createHash('sha256')</a:t>
            </a:r>
          </a:p>
          <a:p>
            <a:r>
              <a:t>  .update(token).digest('hex');</a:t>
            </a:r>
          </a:p>
          <a:p/>
          <a:p>
            <a:r>
              <a:t>SELECT * FROM reminders</a:t>
            </a:r>
          </a:p>
          <a:p>
            <a:r>
              <a:t> WHERE status = 'pending' AND due &lt;= ?</a:t>
            </a:r>
          </a:p>
          <a:p>
            <a:r>
              <a:t> ORDER BY due LIMIT 20;</a:t>
            </a:r>
          </a:p>
          <a:p/>
          <a:p>
            <a:r>
              <a:t>// pending → sending → sent / failed / expired</a:t>
            </a:r>
          </a:p>
          <a:p>
            <a:r>
              <a:t>연결 키 원문은 서버 DB에 저장하지 않습니다.</a:t>
            </a:r>
          </a:p>
          <a:p/>
          <a:p>
            <a:r>
              <a:t>조회·삭제에도 같은 키의 해시를 적용합니다.</a:t>
            </a:r>
          </a:p>
          <a:p/>
          <a:p>
            <a:r>
              <a:t>30초 확인, 만료 구독 삭제, 제한된 재시도로 상태를 관리합니다.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배포: GitHub main → Render Docker Web Service</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보안·개인정보: 저장 위치와 권한 범위를 보이게 합니다.</a:t>
            </a:r>
          </a:p>
          <a:p/>
          <a:p>
            <a:r>
              <a:t>전문 보안 감사를 완료했다는 의미는 아닙니다. 공개 앱의 로그인·다중 사용자 권한은 향후 강화 대상입니다. Web Push 전송은 표준 암호화를 사용하며 서버 저장 자료는 운영자/호스팅 계정 접근 통제가 필요합니다. 외부 API 비용·할당량 제한도 별도로 설정해야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검증: 저장·권한·모바일 회귀를 함께 확인합니다.</a:t>
            </a:r>
          </a:p>
          <a:p/>
          <a:p>
            <a:r>
              <a:t>검증 스크립트: npm run check / npm test / python3 -m unittest discover -s tests -p test_*.py / npm run test:browser. 반응형 폭 1440·1024·768·390·320px. 숫자는 코드 기준 시점의 실행 결과이며 향후 변경될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운영에서 남은 확인과 다음 확장 우선순위</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소스 코드와 설정 문서 찾아보기</a:t>
            </a:r>
          </a:p>
          <a:p/>
          <a:p>
            <a:r>
              <a:t>저장소: https://github.com/Min8309/esl_101</a:t>
            </a:r>
          </a:p>
          <a:p>
            <a:r>
              <a:t>서비스: https://esl-101.onrender.com/</a:t>
            </a:r>
          </a:p>
          <a:p>
            <a:r>
              <a:t>각 파일의 최신 코드는 저장소에서 확인합니다. 발표 자료는 기준 커밋의 스냅샷입니다.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말줍 프로젝트 정리 | 코드 기준 b65688c | 2026-10-23 (Asia/Seoul)</a:t>
            </a:r>
          </a:p>
          <a:p>
            <a:r>
              <a:t>발표·시연 순서</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MALJUP · PROJECT DOCUMENTATION</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좋아하는 한마디를 주워,</a:t>
            </a:r>
          </a:p>
          <a:p>
            <a:pPr>
              <a:spcAft>
                <a:spcPts val="700"/>
              </a:spcAft>
              <a:defRPr sz="2900" b="1">
                <a:solidFill>
                  <a:srgbClr val="173A35"/>
                </a:solidFill>
                <a:latin typeface="Noto Sans CJK KR"/>
              </a:defRPr>
            </a:pPr>
            <a:r>
              <a:t>내 말로.</a:t>
            </a:r>
          </a:p>
        </p:txBody>
      </p:sp>
      <p:sp>
        <p:nvSpPr>
          <p:cNvPr id="5" name="TextBox 4"/>
          <p:cNvSpPr txBox="1"/>
          <p:nvPr/>
        </p:nvSpPr>
        <p:spPr>
          <a:xfrm>
            <a:off x="640080" y="2743200"/>
            <a:ext cx="6675120" cy="777240"/>
          </a:xfrm>
          <a:prstGeom prst="rect">
            <a:avLst/>
          </a:prstGeom>
          <a:noFill/>
        </p:spPr>
        <p:txBody>
          <a:bodyPr wrap="square" lIns="0" rIns="0" tIns="0" bIns="0">
            <a:spAutoFit/>
          </a:bodyPr>
          <a:lstStyle/>
          <a:p>
            <a:pPr>
              <a:spcAft>
                <a:spcPts val="700"/>
              </a:spcAft>
              <a:defRPr sz="2500" b="1">
                <a:solidFill>
                  <a:srgbClr val="173A35"/>
                </a:solidFill>
                <a:latin typeface="Noto Sans CJK KR"/>
              </a:defRPr>
            </a:pPr>
            <a:r>
              <a:t>말줍 프로젝트 기획·제작 보고서</a:t>
            </a:r>
          </a:p>
        </p:txBody>
      </p:sp>
      <p:sp>
        <p:nvSpPr>
          <p:cNvPr id="6" name="TextBox 5"/>
          <p:cNvSpPr txBox="1"/>
          <p:nvPr/>
        </p:nvSpPr>
        <p:spPr>
          <a:xfrm>
            <a:off x="667512" y="3785615"/>
            <a:ext cx="6583680" cy="1051560"/>
          </a:xfrm>
          <a:prstGeom prst="rect">
            <a:avLst/>
          </a:prstGeom>
          <a:noFill/>
        </p:spPr>
        <p:txBody>
          <a:bodyPr wrap="square" lIns="0" rIns="0" tIns="0" bIns="0">
            <a:spAutoFit/>
          </a:bodyPr>
          <a:lstStyle/>
          <a:p>
            <a:pPr>
              <a:spcAft>
                <a:spcPts val="700"/>
              </a:spcAft>
              <a:defRPr sz="1900" b="0">
                <a:solidFill>
                  <a:srgbClr val="58726A"/>
                </a:solidFill>
                <a:latin typeface="Noto Sans CJK KR"/>
              </a:defRPr>
            </a:pPr>
            <a:r>
              <a:t>기획 의도  /  사이트맵  /  UX·디자인</a:t>
            </a:r>
          </a:p>
          <a:p>
            <a:pPr>
              <a:spcAft>
                <a:spcPts val="700"/>
              </a:spcAft>
              <a:defRPr sz="1900" b="0">
                <a:solidFill>
                  <a:srgbClr val="58726A"/>
                </a:solidFill>
                <a:latin typeface="Noto Sans CJK KR"/>
              </a:defRPr>
            </a:pPr>
            <a:r>
              <a:t>기능 명세  /  핵심 코드  /  배포·운영</a:t>
            </a:r>
          </a:p>
        </p:txBody>
      </p:sp>
      <p:pic>
        <p:nvPicPr>
          <p:cNvPr id="7" name="Picture 6" descr="maljup-logo.png"/>
          <p:cNvPicPr>
            <a:picLocks noChangeAspect="1"/>
          </p:cNvPicPr>
          <p:nvPr/>
        </p:nvPicPr>
        <p:blipFill>
          <a:blip r:embed="rId3"/>
          <a:stretch>
            <a:fillRect/>
          </a:stretch>
        </p:blipFill>
        <p:spPr>
          <a:xfrm>
            <a:off x="8641080" y="1920240"/>
            <a:ext cx="2103120" cy="2147182"/>
          </a:xfrm>
          <a:prstGeom prst="rect">
            <a:avLst/>
          </a:prstGeom>
        </p:spPr>
      </p:pic>
      <p:sp>
        <p:nvSpPr>
          <p:cNvPr id="8" name="Rounded Rectangle 7"/>
          <p:cNvSpPr/>
          <p:nvPr/>
        </p:nvSpPr>
        <p:spPr>
          <a:xfrm>
            <a:off x="621792" y="5833872"/>
            <a:ext cx="10954512" cy="438912"/>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916168"/>
            <a:ext cx="10561320" cy="2743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2026.10.23  ·  구현 코드 기준 b65688c  ·  https://esl-101.onrender.com/</a:t>
            </a:r>
          </a:p>
        </p:txBody>
      </p:sp>
      <p:sp>
        <p:nvSpPr>
          <p:cNvPr id="10" name="Rectangle 9"/>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12" name="TextBox 11"/>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01 / 32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01 / 기획 개요</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말줍은 영상 속 표현을 학습 루틴으로 바꿉니다.</a:t>
            </a:r>
          </a:p>
        </p:txBody>
      </p:sp>
      <p:sp>
        <p:nvSpPr>
          <p:cNvPr id="5" name="TextBox 4"/>
          <p:cNvSpPr txBox="1"/>
          <p:nvPr/>
        </p:nvSpPr>
        <p:spPr>
          <a:xfrm>
            <a:off x="621792" y="1609344"/>
            <a:ext cx="10972800" cy="457200"/>
          </a:xfrm>
          <a:prstGeom prst="rect">
            <a:avLst/>
          </a:prstGeom>
          <a:noFill/>
        </p:spPr>
        <p:txBody>
          <a:bodyPr wrap="square" lIns="0" rIns="0" tIns="0" bIns="0">
            <a:spAutoFit/>
          </a:bodyPr>
          <a:lstStyle/>
          <a:p>
            <a:pPr>
              <a:spcAft>
                <a:spcPts val="700"/>
              </a:spcAft>
              <a:defRPr sz="1300" b="0">
                <a:solidFill>
                  <a:srgbClr val="58726A"/>
                </a:solidFill>
                <a:latin typeface="Noto Sans CJK KR"/>
              </a:defRPr>
            </a:pPr>
            <a:r>
              <a:t>공개 자막에서 발견한 표현을 수집하고, 메모·발화·복습으로 연결하는 개인 학습 웹앱</a:t>
            </a:r>
          </a:p>
        </p:txBody>
      </p:sp>
      <p:sp>
        <p:nvSpPr>
          <p:cNvPr id="6" name="Rounded Rectangle 5"/>
          <p:cNvSpPr/>
          <p:nvPr/>
        </p:nvSpPr>
        <p:spPr>
          <a:xfrm>
            <a:off x="621792" y="2240280"/>
            <a:ext cx="3502152" cy="320040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 y="2423160"/>
            <a:ext cx="3081528"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DISCOVER</a:t>
            </a:r>
          </a:p>
        </p:txBody>
      </p:sp>
      <p:sp>
        <p:nvSpPr>
          <p:cNvPr id="8" name="TextBox 7"/>
          <p:cNvSpPr txBox="1"/>
          <p:nvPr/>
        </p:nvSpPr>
        <p:spPr>
          <a:xfrm>
            <a:off x="832104" y="2898648"/>
            <a:ext cx="3081528"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스크립트로 발견</a:t>
            </a:r>
          </a:p>
        </p:txBody>
      </p:sp>
      <p:sp>
        <p:nvSpPr>
          <p:cNvPr id="9" name="TextBox 8"/>
          <p:cNvSpPr txBox="1"/>
          <p:nvPr/>
        </p:nvSpPr>
        <p:spPr>
          <a:xfrm>
            <a:off x="832104" y="3657600"/>
            <a:ext cx="3081528" cy="166420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유튜브 주소 입력</a:t>
            </a:r>
          </a:p>
          <a:p>
            <a:pPr>
              <a:spcAft>
                <a:spcPts val="700"/>
              </a:spcAft>
              <a:defRPr sz="1500" b="0">
                <a:solidFill>
                  <a:srgbClr val="58726A"/>
                </a:solidFill>
                <a:latin typeface="Noto Sans CJK KR"/>
              </a:defRPr>
            </a:pPr>
            <a:r>
              <a:t>시간별 자막 읽기·검색</a:t>
            </a:r>
          </a:p>
          <a:p>
            <a:pPr>
              <a:spcAft>
                <a:spcPts val="700"/>
              </a:spcAft>
              <a:defRPr sz="1500" b="0">
                <a:solidFill>
                  <a:srgbClr val="58726A"/>
                </a:solidFill>
                <a:latin typeface="Noto Sans CJK KR"/>
              </a:defRPr>
            </a:pPr>
            <a:r>
              <a:t>관심 단어·문장 선택</a:t>
            </a:r>
          </a:p>
        </p:txBody>
      </p:sp>
      <p:sp>
        <p:nvSpPr>
          <p:cNvPr id="10" name="Rounded Rectangle 9"/>
          <p:cNvSpPr/>
          <p:nvPr/>
        </p:nvSpPr>
        <p:spPr>
          <a:xfrm>
            <a:off x="4343400" y="2240280"/>
            <a:ext cx="3502152" cy="320040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2423160"/>
            <a:ext cx="3081528"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COLLECT</a:t>
            </a:r>
          </a:p>
        </p:txBody>
      </p:sp>
      <p:sp>
        <p:nvSpPr>
          <p:cNvPr id="12" name="TextBox 11"/>
          <p:cNvSpPr txBox="1"/>
          <p:nvPr/>
        </p:nvSpPr>
        <p:spPr>
          <a:xfrm>
            <a:off x="4553712" y="2898648"/>
            <a:ext cx="3081528"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내 표현으로 수집</a:t>
            </a:r>
          </a:p>
        </p:txBody>
      </p:sp>
      <p:sp>
        <p:nvSpPr>
          <p:cNvPr id="13" name="TextBox 12"/>
          <p:cNvSpPr txBox="1"/>
          <p:nvPr/>
        </p:nvSpPr>
        <p:spPr>
          <a:xfrm>
            <a:off x="4553712" y="3657600"/>
            <a:ext cx="3081528" cy="166420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5색 형광펜·카테고리</a:t>
            </a:r>
          </a:p>
          <a:p>
            <a:pPr>
              <a:spcAft>
                <a:spcPts val="700"/>
              </a:spcAft>
              <a:defRPr sz="1500" b="0">
                <a:solidFill>
                  <a:srgbClr val="58726A"/>
                </a:solidFill>
                <a:latin typeface="Noto Sans CJK KR"/>
              </a:defRPr>
            </a:pPr>
            <a:r>
              <a:t>문장 카드·학습 메모</a:t>
            </a:r>
          </a:p>
          <a:p>
            <a:pPr>
              <a:spcAft>
                <a:spcPts val="700"/>
              </a:spcAft>
              <a:defRPr sz="1500" b="0">
                <a:solidFill>
                  <a:srgbClr val="58726A"/>
                </a:solidFill>
                <a:latin typeface="Noto Sans CJK KR"/>
              </a:defRPr>
            </a:pPr>
            <a:r>
              <a:t>원본 영상·시각 연결</a:t>
            </a:r>
          </a:p>
        </p:txBody>
      </p:sp>
      <p:sp>
        <p:nvSpPr>
          <p:cNvPr id="14" name="Rounded Rectangle 13"/>
          <p:cNvSpPr/>
          <p:nvPr/>
        </p:nvSpPr>
        <p:spPr>
          <a:xfrm>
            <a:off x="8065008" y="2240280"/>
            <a:ext cx="3502152" cy="320040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423160"/>
            <a:ext cx="3081528"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PRACTICE</a:t>
            </a:r>
          </a:p>
        </p:txBody>
      </p:sp>
      <p:sp>
        <p:nvSpPr>
          <p:cNvPr id="16" name="TextBox 15"/>
          <p:cNvSpPr txBox="1"/>
          <p:nvPr/>
        </p:nvSpPr>
        <p:spPr>
          <a:xfrm>
            <a:off x="8275320" y="2898648"/>
            <a:ext cx="3081528"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말하고 다시 만나기</a:t>
            </a:r>
          </a:p>
        </p:txBody>
      </p:sp>
      <p:sp>
        <p:nvSpPr>
          <p:cNvPr id="17" name="TextBox 16"/>
          <p:cNvSpPr txBox="1"/>
          <p:nvPr/>
        </p:nvSpPr>
        <p:spPr>
          <a:xfrm>
            <a:off x="8275320" y="3657600"/>
            <a:ext cx="3081528" cy="166420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직접 녹음·미리듣기</a:t>
            </a:r>
          </a:p>
          <a:p>
            <a:pPr>
              <a:spcAft>
                <a:spcPts val="700"/>
              </a:spcAft>
              <a:defRPr sz="1500" b="0">
                <a:solidFill>
                  <a:srgbClr val="58726A"/>
                </a:solidFill>
                <a:latin typeface="Noto Sans CJK KR"/>
              </a:defRPr>
            </a:pPr>
            <a:r>
              <a:t>다음 3일 복습</a:t>
            </a:r>
          </a:p>
          <a:p>
            <a:pPr>
              <a:spcAft>
                <a:spcPts val="700"/>
              </a:spcAft>
              <a:defRPr sz="1500" b="0">
                <a:solidFill>
                  <a:srgbClr val="58726A"/>
                </a:solidFill>
                <a:latin typeface="Noto Sans CJK KR"/>
              </a:defRPr>
            </a:pPr>
            <a:r>
              <a:t>시트 내보내기·문장 알림</a:t>
            </a:r>
          </a:p>
        </p:txBody>
      </p:sp>
      <p:sp>
        <p:nvSpPr>
          <p:cNvPr id="18" name="Rectangle 17"/>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20" name="TextBox 19"/>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02 / 32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01 / 기획 의도</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“본 표현”이 “쓸 수 있는 표현”이 되도록</a:t>
            </a:r>
          </a:p>
        </p:txBody>
      </p:sp>
      <p:sp>
        <p:nvSpPr>
          <p:cNvPr id="5" name="Rectangle 4"/>
          <p:cNvSpPr/>
          <p:nvPr/>
        </p:nvSpPr>
        <p:spPr>
          <a:xfrm>
            <a:off x="621792" y="2057400"/>
            <a:ext cx="3383280"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2148840"/>
            <a:ext cx="3145536"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학습 과정의 불편</a:t>
            </a:r>
          </a:p>
        </p:txBody>
      </p:sp>
      <p:sp>
        <p:nvSpPr>
          <p:cNvPr id="7" name="Rectangle 6"/>
          <p:cNvSpPr/>
          <p:nvPr/>
        </p:nvSpPr>
        <p:spPr>
          <a:xfrm>
            <a:off x="4005072" y="2057400"/>
            <a:ext cx="3749039"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23944" y="2148840"/>
            <a:ext cx="3511296"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제품의 대응</a:t>
            </a:r>
          </a:p>
        </p:txBody>
      </p:sp>
      <p:sp>
        <p:nvSpPr>
          <p:cNvPr id="9" name="Rectangle 8"/>
          <p:cNvSpPr/>
          <p:nvPr/>
        </p:nvSpPr>
        <p:spPr>
          <a:xfrm>
            <a:off x="7754112" y="2057400"/>
            <a:ext cx="3822191"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2984" y="2148840"/>
            <a:ext cx="3584448"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기대 효과</a:t>
            </a:r>
          </a:p>
        </p:txBody>
      </p:sp>
      <p:sp>
        <p:nvSpPr>
          <p:cNvPr id="11" name="Rectangle 10"/>
          <p:cNvSpPr/>
          <p:nvPr/>
        </p:nvSpPr>
        <p:spPr>
          <a:xfrm>
            <a:off x="621792" y="2532888"/>
            <a:ext cx="3383280" cy="758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2642616"/>
            <a:ext cx="3145536" cy="64008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영상과 메모 앱을 반복해서 오감</a:t>
            </a:r>
          </a:p>
        </p:txBody>
      </p:sp>
      <p:sp>
        <p:nvSpPr>
          <p:cNvPr id="13" name="Rectangle 12"/>
          <p:cNvSpPr/>
          <p:nvPr/>
        </p:nvSpPr>
        <p:spPr>
          <a:xfrm>
            <a:off x="4005072" y="2532888"/>
            <a:ext cx="3749039" cy="758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23944" y="2642616"/>
            <a:ext cx="3511296" cy="64008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스크립트·선택·수집을 한 화면에</a:t>
            </a:r>
          </a:p>
        </p:txBody>
      </p:sp>
      <p:sp>
        <p:nvSpPr>
          <p:cNvPr id="15" name="Rectangle 14"/>
          <p:cNvSpPr/>
          <p:nvPr/>
        </p:nvSpPr>
        <p:spPr>
          <a:xfrm>
            <a:off x="7754112" y="2532888"/>
            <a:ext cx="3822191" cy="758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2984" y="2642616"/>
            <a:ext cx="3584448" cy="64008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표현 발견에서 저장까지 동선 단축</a:t>
            </a:r>
          </a:p>
        </p:txBody>
      </p:sp>
      <p:sp>
        <p:nvSpPr>
          <p:cNvPr id="17" name="Rectangle 16"/>
          <p:cNvSpPr/>
          <p:nvPr/>
        </p:nvSpPr>
        <p:spPr>
          <a:xfrm>
            <a:off x="621792" y="3291840"/>
            <a:ext cx="3383280" cy="758952"/>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3401568"/>
            <a:ext cx="3145536" cy="64008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문장만 저장해 상황을 잊음</a:t>
            </a:r>
          </a:p>
        </p:txBody>
      </p:sp>
      <p:sp>
        <p:nvSpPr>
          <p:cNvPr id="19" name="Rectangle 18"/>
          <p:cNvSpPr/>
          <p:nvPr/>
        </p:nvSpPr>
        <p:spPr>
          <a:xfrm>
            <a:off x="4005072" y="3291840"/>
            <a:ext cx="3749039" cy="758952"/>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23944" y="3401568"/>
            <a:ext cx="3511296" cy="64008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영상 URL·타임스탬프 함께 보관</a:t>
            </a:r>
          </a:p>
        </p:txBody>
      </p:sp>
      <p:sp>
        <p:nvSpPr>
          <p:cNvPr id="21" name="Rectangle 20"/>
          <p:cNvSpPr/>
          <p:nvPr/>
        </p:nvSpPr>
        <p:spPr>
          <a:xfrm>
            <a:off x="7754112" y="3291840"/>
            <a:ext cx="3822191" cy="758952"/>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72984" y="3401568"/>
            <a:ext cx="3584448" cy="64008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원래 발화 맥락으로 다시 이동</a:t>
            </a:r>
          </a:p>
        </p:txBody>
      </p:sp>
      <p:sp>
        <p:nvSpPr>
          <p:cNvPr id="23" name="Rectangle 22"/>
          <p:cNvSpPr/>
          <p:nvPr/>
        </p:nvSpPr>
        <p:spPr>
          <a:xfrm>
            <a:off x="621792" y="4050791"/>
            <a:ext cx="3383280" cy="758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 y="4160520"/>
            <a:ext cx="3145536" cy="64008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단어를 모으고 복습하지 않음</a:t>
            </a:r>
          </a:p>
        </p:txBody>
      </p:sp>
      <p:sp>
        <p:nvSpPr>
          <p:cNvPr id="25" name="Rectangle 24"/>
          <p:cNvSpPr/>
          <p:nvPr/>
        </p:nvSpPr>
        <p:spPr>
          <a:xfrm>
            <a:off x="4005072" y="4050791"/>
            <a:ext cx="3749039" cy="758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23944" y="4160520"/>
            <a:ext cx="3511296" cy="64008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오늘의 복습·체크리스트·달력</a:t>
            </a:r>
          </a:p>
        </p:txBody>
      </p:sp>
      <p:sp>
        <p:nvSpPr>
          <p:cNvPr id="27" name="Rectangle 26"/>
          <p:cNvSpPr/>
          <p:nvPr/>
        </p:nvSpPr>
        <p:spPr>
          <a:xfrm>
            <a:off x="7754112" y="4050791"/>
            <a:ext cx="3822191" cy="758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72984" y="4160520"/>
            <a:ext cx="3584448" cy="64008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수집 이후의 학습 행동 제공</a:t>
            </a:r>
          </a:p>
        </p:txBody>
      </p:sp>
      <p:sp>
        <p:nvSpPr>
          <p:cNvPr id="29" name="Rectangle 28"/>
          <p:cNvSpPr/>
          <p:nvPr/>
        </p:nvSpPr>
        <p:spPr>
          <a:xfrm>
            <a:off x="621792" y="4809744"/>
            <a:ext cx="3383280" cy="758952"/>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 y="4919472"/>
            <a:ext cx="3145536" cy="64008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내 발화를 기록하기 번거로움</a:t>
            </a:r>
          </a:p>
        </p:txBody>
      </p:sp>
      <p:sp>
        <p:nvSpPr>
          <p:cNvPr id="31" name="Rectangle 30"/>
          <p:cNvSpPr/>
          <p:nvPr/>
        </p:nvSpPr>
        <p:spPr>
          <a:xfrm>
            <a:off x="4005072" y="4809744"/>
            <a:ext cx="3749039" cy="758952"/>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23944" y="4919472"/>
            <a:ext cx="3511296" cy="64008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카드 녹음 + 보관함에서 자유 녹음</a:t>
            </a:r>
          </a:p>
        </p:txBody>
      </p:sp>
      <p:sp>
        <p:nvSpPr>
          <p:cNvPr id="33" name="Rectangle 32"/>
          <p:cNvSpPr/>
          <p:nvPr/>
        </p:nvSpPr>
        <p:spPr>
          <a:xfrm>
            <a:off x="7754112" y="4809744"/>
            <a:ext cx="3822191" cy="758952"/>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72984" y="4919472"/>
            <a:ext cx="3584448" cy="64008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발화 연습과 파일 관리 연결</a:t>
            </a:r>
          </a:p>
        </p:txBody>
      </p:sp>
      <p:sp>
        <p:nvSpPr>
          <p:cNvPr id="35" name="Rounded Rectangle 34"/>
          <p:cNvSpPr/>
          <p:nvPr/>
        </p:nvSpPr>
        <p:spPr>
          <a:xfrm>
            <a:off x="621792" y="5833872"/>
            <a:ext cx="10954512" cy="438912"/>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916168"/>
            <a:ext cx="10561320" cy="2743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핵심 원칙: 발견 → 선택 → 수집 → 발화 → 복습을 짧고 반복 가능한 흐름으로 만든다.</a:t>
            </a:r>
          </a:p>
        </p:txBody>
      </p:sp>
      <p:sp>
        <p:nvSpPr>
          <p:cNvPr id="37" name="Rectangle 36"/>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39" name="TextBox 38"/>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03 / 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01 / 사용자·활용 시나리오</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PC에서는 깊게 읽고, 아이폰에서는 가볍게 이어갑니다.</a:t>
            </a:r>
          </a:p>
        </p:txBody>
      </p:sp>
      <p:sp>
        <p:nvSpPr>
          <p:cNvPr id="5" name="Rounded Rectangle 4"/>
          <p:cNvSpPr/>
          <p:nvPr/>
        </p:nvSpPr>
        <p:spPr>
          <a:xfrm>
            <a:off x="621792" y="2148840"/>
            <a:ext cx="5376672" cy="347472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2331720"/>
            <a:ext cx="4956048"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DESKTOP</a:t>
            </a:r>
          </a:p>
        </p:txBody>
      </p:sp>
      <p:sp>
        <p:nvSpPr>
          <p:cNvPr id="7" name="TextBox 6"/>
          <p:cNvSpPr txBox="1"/>
          <p:nvPr/>
        </p:nvSpPr>
        <p:spPr>
          <a:xfrm>
            <a:off x="832104" y="2807208"/>
            <a:ext cx="4956048"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영상으로 영어를 공부하는 사용자</a:t>
            </a:r>
          </a:p>
        </p:txBody>
      </p:sp>
      <p:sp>
        <p:nvSpPr>
          <p:cNvPr id="8" name="TextBox 7"/>
          <p:cNvSpPr txBox="1"/>
          <p:nvPr/>
        </p:nvSpPr>
        <p:spPr>
          <a:xfrm>
            <a:off x="832104" y="3566160"/>
            <a:ext cx="4956048" cy="193852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주소로 스크립트 불러오기</a:t>
            </a:r>
          </a:p>
          <a:p>
            <a:pPr>
              <a:spcAft>
                <a:spcPts val="700"/>
              </a:spcAft>
              <a:defRPr sz="1500" b="0">
                <a:solidFill>
                  <a:srgbClr val="58726A"/>
                </a:solidFill>
                <a:latin typeface="Noto Sans CJK KR"/>
              </a:defRPr>
            </a:pPr>
            <a:r>
              <a:t>문장 검색·선택·색상 분류</a:t>
            </a:r>
          </a:p>
          <a:p>
            <a:pPr>
              <a:spcAft>
                <a:spcPts val="700"/>
              </a:spcAft>
              <a:defRPr sz="1500" b="0">
                <a:solidFill>
                  <a:srgbClr val="58726A"/>
                </a:solidFill>
                <a:latin typeface="Noto Sans CJK KR"/>
              </a:defRPr>
            </a:pPr>
            <a:r>
              <a:t>카드에 뜻·문맥 메모 남기기</a:t>
            </a:r>
          </a:p>
          <a:p>
            <a:pPr>
              <a:spcAft>
                <a:spcPts val="700"/>
              </a:spcAft>
              <a:defRPr sz="1500" b="0">
                <a:solidFill>
                  <a:srgbClr val="58726A"/>
                </a:solidFill>
                <a:latin typeface="Noto Sans CJK KR"/>
              </a:defRPr>
            </a:pPr>
            <a:r>
              <a:t>선택한 문장에 휴대폰 알림 예약</a:t>
            </a:r>
          </a:p>
        </p:txBody>
      </p:sp>
      <p:sp>
        <p:nvSpPr>
          <p:cNvPr id="9" name="Rounded Rectangle 8"/>
          <p:cNvSpPr/>
          <p:nvPr/>
        </p:nvSpPr>
        <p:spPr>
          <a:xfrm>
            <a:off x="6208776" y="2148840"/>
            <a:ext cx="5367528" cy="347472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2331720"/>
            <a:ext cx="4946904"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IPHONE / MOBILE</a:t>
            </a:r>
          </a:p>
        </p:txBody>
      </p:sp>
      <p:sp>
        <p:nvSpPr>
          <p:cNvPr id="11" name="TextBox 10"/>
          <p:cNvSpPr txBox="1"/>
          <p:nvPr/>
        </p:nvSpPr>
        <p:spPr>
          <a:xfrm>
            <a:off x="6419088" y="2807208"/>
            <a:ext cx="4946904"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이동 중 표현을 복습하는 사용자</a:t>
            </a:r>
          </a:p>
        </p:txBody>
      </p:sp>
      <p:sp>
        <p:nvSpPr>
          <p:cNvPr id="12" name="TextBox 11"/>
          <p:cNvSpPr txBox="1"/>
          <p:nvPr/>
        </p:nvSpPr>
        <p:spPr>
          <a:xfrm>
            <a:off x="6419088" y="3566160"/>
            <a:ext cx="4946904" cy="193852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홈 화면 아이콘으로 앱 열기</a:t>
            </a:r>
          </a:p>
          <a:p>
            <a:pPr>
              <a:spcAft>
                <a:spcPts val="700"/>
              </a:spcAft>
              <a:defRPr sz="1500" b="0">
                <a:solidFill>
                  <a:srgbClr val="58726A"/>
                </a:solidFill>
                <a:latin typeface="Noto Sans CJK KR"/>
              </a:defRPr>
            </a:pPr>
            <a:r>
              <a:t>작은 메모판에서 문장 수집·삭제</a:t>
            </a:r>
          </a:p>
          <a:p>
            <a:pPr>
              <a:spcAft>
                <a:spcPts val="700"/>
              </a:spcAft>
              <a:defRPr sz="1500" b="0">
                <a:solidFill>
                  <a:srgbClr val="58726A"/>
                </a:solidFill>
                <a:latin typeface="Noto Sans CJK KR"/>
              </a:defRPr>
            </a:pPr>
            <a:r>
              <a:t>짧게 녹음하고 저장 파일 재생</a:t>
            </a:r>
          </a:p>
          <a:p>
            <a:pPr>
              <a:spcAft>
                <a:spcPts val="700"/>
              </a:spcAft>
              <a:defRPr sz="1500" b="0">
                <a:solidFill>
                  <a:srgbClr val="58726A"/>
                </a:solidFill>
                <a:latin typeface="Noto Sans CJK KR"/>
              </a:defRPr>
            </a:pPr>
            <a:r>
              <a:t>예약 알림을 눌러 해당 문장 열기</a:t>
            </a:r>
          </a:p>
        </p:txBody>
      </p:sp>
      <p:sp>
        <p:nvSpPr>
          <p:cNvPr id="13" name="Rounded Rectangle 12"/>
          <p:cNvSpPr/>
          <p:nvPr/>
        </p:nvSpPr>
        <p:spPr>
          <a:xfrm>
            <a:off x="621792" y="5833872"/>
            <a:ext cx="10954512" cy="438912"/>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916168"/>
            <a:ext cx="10561320" cy="2743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현재 전체 자료는 기기별 저장소에 보관합니다. 알림으로 예약한 문장 사본만 연결 기기로 전달됩니다.</a:t>
            </a:r>
          </a:p>
        </p:txBody>
      </p:sp>
      <p:sp>
        <p:nvSpPr>
          <p:cNvPr id="15" name="Rectangle 14"/>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17" name="TextBox 16"/>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04 / 32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01 / 범위 정의</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구현된 범위와 앞으로의 확장을 분리했습니다.</a:t>
            </a:r>
          </a:p>
        </p:txBody>
      </p:sp>
      <p:sp>
        <p:nvSpPr>
          <p:cNvPr id="5" name="Rectangle 4"/>
          <p:cNvSpPr/>
          <p:nvPr/>
        </p:nvSpPr>
        <p:spPr>
          <a:xfrm>
            <a:off x="621792" y="2057400"/>
            <a:ext cx="2743200"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2148840"/>
            <a:ext cx="2505456"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구분</a:t>
            </a:r>
          </a:p>
        </p:txBody>
      </p:sp>
      <p:sp>
        <p:nvSpPr>
          <p:cNvPr id="7" name="Rectangle 6"/>
          <p:cNvSpPr/>
          <p:nvPr/>
        </p:nvSpPr>
        <p:spPr>
          <a:xfrm>
            <a:off x="3364992" y="2057400"/>
            <a:ext cx="8211312"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3864" y="2148840"/>
            <a:ext cx="7973568"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현재 범위</a:t>
            </a:r>
          </a:p>
        </p:txBody>
      </p:sp>
      <p:sp>
        <p:nvSpPr>
          <p:cNvPr id="9" name="Rectangle 8"/>
          <p:cNvSpPr/>
          <p:nvPr/>
        </p:nvSpPr>
        <p:spPr>
          <a:xfrm>
            <a:off x="621792" y="2532888"/>
            <a:ext cx="27432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 y="2642616"/>
            <a:ext cx="2505456" cy="5029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구현 완료</a:t>
            </a:r>
          </a:p>
        </p:txBody>
      </p:sp>
      <p:sp>
        <p:nvSpPr>
          <p:cNvPr id="11" name="Rectangle 10"/>
          <p:cNvSpPr/>
          <p:nvPr/>
        </p:nvSpPr>
        <p:spPr>
          <a:xfrm>
            <a:off x="3364992" y="2532888"/>
            <a:ext cx="8211312"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3864" y="2642616"/>
            <a:ext cx="7973568" cy="5029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카드·메모·3일 복습·달력·체크리스트·녹음·모바일 수집판</a:t>
            </a:r>
          </a:p>
        </p:txBody>
      </p:sp>
      <p:sp>
        <p:nvSpPr>
          <p:cNvPr id="13" name="Rectangle 12"/>
          <p:cNvSpPr/>
          <p:nvPr/>
        </p:nvSpPr>
        <p:spPr>
          <a:xfrm>
            <a:off x="621792" y="3154680"/>
            <a:ext cx="2743200" cy="621792"/>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3264408"/>
            <a:ext cx="2505456" cy="5029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외부 서비스 설정 필요</a:t>
            </a:r>
          </a:p>
        </p:txBody>
      </p:sp>
      <p:sp>
        <p:nvSpPr>
          <p:cNvPr id="15" name="Rectangle 14"/>
          <p:cNvSpPr/>
          <p:nvPr/>
        </p:nvSpPr>
        <p:spPr>
          <a:xfrm>
            <a:off x="3364992" y="3154680"/>
            <a:ext cx="8211312" cy="621792"/>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83864" y="3264408"/>
            <a:ext cx="7973568" cy="5029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Supadata 자막 API / Google Sheets OAuth·API 설정</a:t>
            </a:r>
          </a:p>
        </p:txBody>
      </p:sp>
      <p:sp>
        <p:nvSpPr>
          <p:cNvPr id="17" name="Rectangle 16"/>
          <p:cNvSpPr/>
          <p:nvPr/>
        </p:nvSpPr>
        <p:spPr>
          <a:xfrm>
            <a:off x="621792" y="3776472"/>
            <a:ext cx="27432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3886200"/>
            <a:ext cx="2505456" cy="5029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코드 구현 + 운영 설정 필요</a:t>
            </a:r>
          </a:p>
        </p:txBody>
      </p:sp>
      <p:sp>
        <p:nvSpPr>
          <p:cNvPr id="19" name="Rectangle 18"/>
          <p:cNvSpPr/>
          <p:nvPr/>
        </p:nvSpPr>
        <p:spPr>
          <a:xfrm>
            <a:off x="3364992" y="3776472"/>
            <a:ext cx="8211312"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83864" y="3886200"/>
            <a:ext cx="7973568" cy="5029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웹 푸시: VAPID·Render Disk·상시 실행·아이폰 권한</a:t>
            </a:r>
          </a:p>
        </p:txBody>
      </p:sp>
      <p:sp>
        <p:nvSpPr>
          <p:cNvPr id="21" name="Rectangle 20"/>
          <p:cNvSpPr/>
          <p:nvPr/>
        </p:nvSpPr>
        <p:spPr>
          <a:xfrm>
            <a:off x="621792" y="4398264"/>
            <a:ext cx="2743200" cy="621792"/>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4507992"/>
            <a:ext cx="2505456" cy="5029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현재 제공하지 않음</a:t>
            </a:r>
          </a:p>
        </p:txBody>
      </p:sp>
      <p:sp>
        <p:nvSpPr>
          <p:cNvPr id="23" name="Rectangle 22"/>
          <p:cNvSpPr/>
          <p:nvPr/>
        </p:nvSpPr>
        <p:spPr>
          <a:xfrm>
            <a:off x="3364992" y="4398264"/>
            <a:ext cx="8211312" cy="621792"/>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83864" y="4507992"/>
            <a:ext cx="7973568" cy="5029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영상 화면 캡처, 음성 AI 받아쓰기, AI 해설·발음 채점</a:t>
            </a:r>
          </a:p>
        </p:txBody>
      </p:sp>
      <p:sp>
        <p:nvSpPr>
          <p:cNvPr id="25" name="Rectangle 24"/>
          <p:cNvSpPr/>
          <p:nvPr/>
        </p:nvSpPr>
        <p:spPr>
          <a:xfrm>
            <a:off x="621792" y="5020056"/>
            <a:ext cx="27432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0664" y="5129784"/>
            <a:ext cx="2505456" cy="5029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자동 동기화 아님</a:t>
            </a:r>
          </a:p>
        </p:txBody>
      </p:sp>
      <p:sp>
        <p:nvSpPr>
          <p:cNvPr id="27" name="Rectangle 26"/>
          <p:cNvSpPr/>
          <p:nvPr/>
        </p:nvSpPr>
        <p:spPr>
          <a:xfrm>
            <a:off x="3364992" y="5020056"/>
            <a:ext cx="8211312"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83864" y="5129784"/>
            <a:ext cx="7973568" cy="5029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Sheets는 새 시트 수동 내보내기 / 전체 기기 동기화 미제공</a:t>
            </a:r>
          </a:p>
        </p:txBody>
      </p:sp>
      <p:sp>
        <p:nvSpPr>
          <p:cNvPr id="29" name="Rectangle 28"/>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31" name="TextBox 30"/>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05 / 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02 / 핵심 사용자 여정</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하나의 문장이 쌓이고, 학습 행동으로 이어지는 흐름</a:t>
            </a:r>
          </a:p>
        </p:txBody>
      </p:sp>
      <p:sp>
        <p:nvSpPr>
          <p:cNvPr id="5" name="Rounded Rectangle 4"/>
          <p:cNvSpPr/>
          <p:nvPr/>
        </p:nvSpPr>
        <p:spPr>
          <a:xfrm>
            <a:off x="640080" y="2514600"/>
            <a:ext cx="1682496" cy="137160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1" y="2697480"/>
            <a:ext cx="1371600" cy="274320"/>
          </a:xfrm>
          <a:prstGeom prst="rect">
            <a:avLst/>
          </a:prstGeom>
          <a:noFill/>
        </p:spPr>
        <p:txBody>
          <a:bodyPr wrap="square" lIns="0" rIns="0" tIns="0" bIns="0">
            <a:spAutoFit/>
          </a:bodyPr>
          <a:lstStyle/>
          <a:p>
            <a:pPr>
              <a:spcAft>
                <a:spcPts val="700"/>
              </a:spcAft>
              <a:defRPr sz="1200" b="1">
                <a:solidFill>
                  <a:srgbClr val="6EA89E"/>
                </a:solidFill>
                <a:latin typeface="Noto Sans CJK KR"/>
              </a:defRPr>
            </a:pPr>
            <a:r>
              <a:t>01</a:t>
            </a:r>
          </a:p>
        </p:txBody>
      </p:sp>
      <p:sp>
        <p:nvSpPr>
          <p:cNvPr id="7" name="TextBox 6"/>
          <p:cNvSpPr txBox="1"/>
          <p:nvPr/>
        </p:nvSpPr>
        <p:spPr>
          <a:xfrm>
            <a:off x="804671" y="3182112"/>
            <a:ext cx="1389888" cy="457200"/>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주소 입력</a:t>
            </a:r>
          </a:p>
        </p:txBody>
      </p:sp>
      <p:sp>
        <p:nvSpPr>
          <p:cNvPr id="8" name="TextBox 7"/>
          <p:cNvSpPr txBox="1"/>
          <p:nvPr/>
        </p:nvSpPr>
        <p:spPr>
          <a:xfrm>
            <a:off x="2350008" y="3017520"/>
            <a:ext cx="201168" cy="365760"/>
          </a:xfrm>
          <a:prstGeom prst="rect">
            <a:avLst/>
          </a:prstGeom>
          <a:noFill/>
        </p:spPr>
        <p:txBody>
          <a:bodyPr wrap="square" lIns="0" rIns="0" tIns="0" bIns="0">
            <a:spAutoFit/>
          </a:bodyPr>
          <a:lstStyle/>
          <a:p>
            <a:pPr>
              <a:spcAft>
                <a:spcPts val="700"/>
              </a:spcAft>
              <a:defRPr sz="2200" b="0">
                <a:solidFill>
                  <a:srgbClr val="6EA89E"/>
                </a:solidFill>
                <a:latin typeface="Noto Sans CJK KR"/>
              </a:defRPr>
            </a:pPr>
            <a:r>
              <a:t>›</a:t>
            </a:r>
          </a:p>
        </p:txBody>
      </p:sp>
      <p:sp>
        <p:nvSpPr>
          <p:cNvPr id="9" name="Rounded Rectangle 8"/>
          <p:cNvSpPr/>
          <p:nvPr/>
        </p:nvSpPr>
        <p:spPr>
          <a:xfrm>
            <a:off x="2523744" y="2514600"/>
            <a:ext cx="1682496" cy="137160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88336" y="2697480"/>
            <a:ext cx="1371600" cy="274320"/>
          </a:xfrm>
          <a:prstGeom prst="rect">
            <a:avLst/>
          </a:prstGeom>
          <a:noFill/>
        </p:spPr>
        <p:txBody>
          <a:bodyPr wrap="square" lIns="0" rIns="0" tIns="0" bIns="0">
            <a:spAutoFit/>
          </a:bodyPr>
          <a:lstStyle/>
          <a:p>
            <a:pPr>
              <a:spcAft>
                <a:spcPts val="700"/>
              </a:spcAft>
              <a:defRPr sz="1200" b="1">
                <a:solidFill>
                  <a:srgbClr val="6EA89E"/>
                </a:solidFill>
                <a:latin typeface="Noto Sans CJK KR"/>
              </a:defRPr>
            </a:pPr>
            <a:r>
              <a:t>02</a:t>
            </a:r>
          </a:p>
        </p:txBody>
      </p:sp>
      <p:sp>
        <p:nvSpPr>
          <p:cNvPr id="11" name="TextBox 10"/>
          <p:cNvSpPr txBox="1"/>
          <p:nvPr/>
        </p:nvSpPr>
        <p:spPr>
          <a:xfrm>
            <a:off x="2688336" y="3182112"/>
            <a:ext cx="1389888" cy="457200"/>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스크립트 탐색</a:t>
            </a:r>
          </a:p>
        </p:txBody>
      </p:sp>
      <p:sp>
        <p:nvSpPr>
          <p:cNvPr id="12" name="TextBox 11"/>
          <p:cNvSpPr txBox="1"/>
          <p:nvPr/>
        </p:nvSpPr>
        <p:spPr>
          <a:xfrm>
            <a:off x="4233672" y="3017520"/>
            <a:ext cx="201168" cy="365760"/>
          </a:xfrm>
          <a:prstGeom prst="rect">
            <a:avLst/>
          </a:prstGeom>
          <a:noFill/>
        </p:spPr>
        <p:txBody>
          <a:bodyPr wrap="square" lIns="0" rIns="0" tIns="0" bIns="0">
            <a:spAutoFit/>
          </a:bodyPr>
          <a:lstStyle/>
          <a:p>
            <a:pPr>
              <a:spcAft>
                <a:spcPts val="700"/>
              </a:spcAft>
              <a:defRPr sz="2200" b="0">
                <a:solidFill>
                  <a:srgbClr val="6EA89E"/>
                </a:solidFill>
                <a:latin typeface="Noto Sans CJK KR"/>
              </a:defRPr>
            </a:pPr>
            <a:r>
              <a:t>›</a:t>
            </a:r>
          </a:p>
        </p:txBody>
      </p:sp>
      <p:sp>
        <p:nvSpPr>
          <p:cNvPr id="13" name="Rounded Rectangle 12"/>
          <p:cNvSpPr/>
          <p:nvPr/>
        </p:nvSpPr>
        <p:spPr>
          <a:xfrm>
            <a:off x="4407408" y="2514600"/>
            <a:ext cx="1682496" cy="137160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697480"/>
            <a:ext cx="1371600" cy="274320"/>
          </a:xfrm>
          <a:prstGeom prst="rect">
            <a:avLst/>
          </a:prstGeom>
          <a:noFill/>
        </p:spPr>
        <p:txBody>
          <a:bodyPr wrap="square" lIns="0" rIns="0" tIns="0" bIns="0">
            <a:spAutoFit/>
          </a:bodyPr>
          <a:lstStyle/>
          <a:p>
            <a:pPr>
              <a:spcAft>
                <a:spcPts val="700"/>
              </a:spcAft>
              <a:defRPr sz="1200" b="1">
                <a:solidFill>
                  <a:srgbClr val="6EA89E"/>
                </a:solidFill>
                <a:latin typeface="Noto Sans CJK KR"/>
              </a:defRPr>
            </a:pPr>
            <a:r>
              <a:t>03</a:t>
            </a:r>
          </a:p>
        </p:txBody>
      </p:sp>
      <p:sp>
        <p:nvSpPr>
          <p:cNvPr id="15" name="TextBox 14"/>
          <p:cNvSpPr txBox="1"/>
          <p:nvPr/>
        </p:nvSpPr>
        <p:spPr>
          <a:xfrm>
            <a:off x="4572000" y="3182112"/>
            <a:ext cx="1389888" cy="457200"/>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형광펜 선택</a:t>
            </a:r>
          </a:p>
        </p:txBody>
      </p:sp>
      <p:sp>
        <p:nvSpPr>
          <p:cNvPr id="16" name="TextBox 15"/>
          <p:cNvSpPr txBox="1"/>
          <p:nvPr/>
        </p:nvSpPr>
        <p:spPr>
          <a:xfrm>
            <a:off x="6117336" y="3017520"/>
            <a:ext cx="201168" cy="365760"/>
          </a:xfrm>
          <a:prstGeom prst="rect">
            <a:avLst/>
          </a:prstGeom>
          <a:noFill/>
        </p:spPr>
        <p:txBody>
          <a:bodyPr wrap="square" lIns="0" rIns="0" tIns="0" bIns="0">
            <a:spAutoFit/>
          </a:bodyPr>
          <a:lstStyle/>
          <a:p>
            <a:pPr>
              <a:spcAft>
                <a:spcPts val="700"/>
              </a:spcAft>
              <a:defRPr sz="2200" b="0">
                <a:solidFill>
                  <a:srgbClr val="6EA89E"/>
                </a:solidFill>
                <a:latin typeface="Noto Sans CJK KR"/>
              </a:defRPr>
            </a:pPr>
            <a:r>
              <a:t>›</a:t>
            </a:r>
          </a:p>
        </p:txBody>
      </p:sp>
      <p:sp>
        <p:nvSpPr>
          <p:cNvPr id="17" name="Rounded Rectangle 16"/>
          <p:cNvSpPr/>
          <p:nvPr/>
        </p:nvSpPr>
        <p:spPr>
          <a:xfrm>
            <a:off x="6291072" y="2514600"/>
            <a:ext cx="1682496" cy="137160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697480"/>
            <a:ext cx="1371600" cy="274320"/>
          </a:xfrm>
          <a:prstGeom prst="rect">
            <a:avLst/>
          </a:prstGeom>
          <a:noFill/>
        </p:spPr>
        <p:txBody>
          <a:bodyPr wrap="square" lIns="0" rIns="0" tIns="0" bIns="0">
            <a:spAutoFit/>
          </a:bodyPr>
          <a:lstStyle/>
          <a:p>
            <a:pPr>
              <a:spcAft>
                <a:spcPts val="700"/>
              </a:spcAft>
              <a:defRPr sz="1200" b="1">
                <a:solidFill>
                  <a:srgbClr val="6EA89E"/>
                </a:solidFill>
                <a:latin typeface="Noto Sans CJK KR"/>
              </a:defRPr>
            </a:pPr>
            <a:r>
              <a:t>04</a:t>
            </a:r>
          </a:p>
        </p:txBody>
      </p:sp>
      <p:sp>
        <p:nvSpPr>
          <p:cNvPr id="19" name="TextBox 18"/>
          <p:cNvSpPr txBox="1"/>
          <p:nvPr/>
        </p:nvSpPr>
        <p:spPr>
          <a:xfrm>
            <a:off x="6455664" y="3182112"/>
            <a:ext cx="1389888" cy="457200"/>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문장 수집</a:t>
            </a:r>
          </a:p>
        </p:txBody>
      </p:sp>
      <p:sp>
        <p:nvSpPr>
          <p:cNvPr id="20" name="TextBox 19"/>
          <p:cNvSpPr txBox="1"/>
          <p:nvPr/>
        </p:nvSpPr>
        <p:spPr>
          <a:xfrm>
            <a:off x="8001000" y="3017520"/>
            <a:ext cx="201168" cy="365760"/>
          </a:xfrm>
          <a:prstGeom prst="rect">
            <a:avLst/>
          </a:prstGeom>
          <a:noFill/>
        </p:spPr>
        <p:txBody>
          <a:bodyPr wrap="square" lIns="0" rIns="0" tIns="0" bIns="0">
            <a:spAutoFit/>
          </a:bodyPr>
          <a:lstStyle/>
          <a:p>
            <a:pPr>
              <a:spcAft>
                <a:spcPts val="700"/>
              </a:spcAft>
              <a:defRPr sz="2200" b="0">
                <a:solidFill>
                  <a:srgbClr val="6EA89E"/>
                </a:solidFill>
                <a:latin typeface="Noto Sans CJK KR"/>
              </a:defRPr>
            </a:pPr>
            <a:r>
              <a:t>›</a:t>
            </a:r>
          </a:p>
        </p:txBody>
      </p:sp>
      <p:sp>
        <p:nvSpPr>
          <p:cNvPr id="21" name="Rounded Rectangle 20"/>
          <p:cNvSpPr/>
          <p:nvPr/>
        </p:nvSpPr>
        <p:spPr>
          <a:xfrm>
            <a:off x="8174736" y="2514600"/>
            <a:ext cx="1682496" cy="137160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7" y="2697480"/>
            <a:ext cx="1371600" cy="274320"/>
          </a:xfrm>
          <a:prstGeom prst="rect">
            <a:avLst/>
          </a:prstGeom>
          <a:noFill/>
        </p:spPr>
        <p:txBody>
          <a:bodyPr wrap="square" lIns="0" rIns="0" tIns="0" bIns="0">
            <a:spAutoFit/>
          </a:bodyPr>
          <a:lstStyle/>
          <a:p>
            <a:pPr>
              <a:spcAft>
                <a:spcPts val="700"/>
              </a:spcAft>
              <a:defRPr sz="1200" b="1">
                <a:solidFill>
                  <a:srgbClr val="6EA89E"/>
                </a:solidFill>
                <a:latin typeface="Noto Sans CJK KR"/>
              </a:defRPr>
            </a:pPr>
            <a:r>
              <a:t>05</a:t>
            </a:r>
          </a:p>
        </p:txBody>
      </p:sp>
      <p:sp>
        <p:nvSpPr>
          <p:cNvPr id="23" name="TextBox 22"/>
          <p:cNvSpPr txBox="1"/>
          <p:nvPr/>
        </p:nvSpPr>
        <p:spPr>
          <a:xfrm>
            <a:off x="8339327" y="3182112"/>
            <a:ext cx="1389888" cy="457200"/>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메모·녹음</a:t>
            </a:r>
          </a:p>
        </p:txBody>
      </p:sp>
      <p:sp>
        <p:nvSpPr>
          <p:cNvPr id="24" name="TextBox 23"/>
          <p:cNvSpPr txBox="1"/>
          <p:nvPr/>
        </p:nvSpPr>
        <p:spPr>
          <a:xfrm>
            <a:off x="9884663" y="3017520"/>
            <a:ext cx="201168" cy="365760"/>
          </a:xfrm>
          <a:prstGeom prst="rect">
            <a:avLst/>
          </a:prstGeom>
          <a:noFill/>
        </p:spPr>
        <p:txBody>
          <a:bodyPr wrap="square" lIns="0" rIns="0" tIns="0" bIns="0">
            <a:spAutoFit/>
          </a:bodyPr>
          <a:lstStyle/>
          <a:p>
            <a:pPr>
              <a:spcAft>
                <a:spcPts val="700"/>
              </a:spcAft>
              <a:defRPr sz="2200" b="0">
                <a:solidFill>
                  <a:srgbClr val="6EA89E"/>
                </a:solidFill>
                <a:latin typeface="Noto Sans CJK KR"/>
              </a:defRPr>
            </a:pPr>
            <a:r>
              <a:t>›</a:t>
            </a:r>
          </a:p>
        </p:txBody>
      </p:sp>
      <p:sp>
        <p:nvSpPr>
          <p:cNvPr id="25" name="Rounded Rectangle 24"/>
          <p:cNvSpPr/>
          <p:nvPr/>
        </p:nvSpPr>
        <p:spPr>
          <a:xfrm>
            <a:off x="10058400" y="2514600"/>
            <a:ext cx="1682496" cy="137160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22992" y="2697480"/>
            <a:ext cx="1371600" cy="274320"/>
          </a:xfrm>
          <a:prstGeom prst="rect">
            <a:avLst/>
          </a:prstGeom>
          <a:noFill/>
        </p:spPr>
        <p:txBody>
          <a:bodyPr wrap="square" lIns="0" rIns="0" tIns="0" bIns="0">
            <a:spAutoFit/>
          </a:bodyPr>
          <a:lstStyle/>
          <a:p>
            <a:pPr>
              <a:spcAft>
                <a:spcPts val="700"/>
              </a:spcAft>
              <a:defRPr sz="1200" b="1">
                <a:solidFill>
                  <a:srgbClr val="6EA89E"/>
                </a:solidFill>
                <a:latin typeface="Noto Sans CJK KR"/>
              </a:defRPr>
            </a:pPr>
            <a:r>
              <a:t>06</a:t>
            </a:r>
          </a:p>
        </p:txBody>
      </p:sp>
      <p:sp>
        <p:nvSpPr>
          <p:cNvPr id="27" name="TextBox 26"/>
          <p:cNvSpPr txBox="1"/>
          <p:nvPr/>
        </p:nvSpPr>
        <p:spPr>
          <a:xfrm>
            <a:off x="10222992" y="3182112"/>
            <a:ext cx="1389888" cy="457200"/>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복습·알림</a:t>
            </a:r>
          </a:p>
        </p:txBody>
      </p:sp>
      <p:sp>
        <p:nvSpPr>
          <p:cNvPr id="28" name="Rectangle 27"/>
          <p:cNvSpPr/>
          <p:nvPr/>
        </p:nvSpPr>
        <p:spPr>
          <a:xfrm>
            <a:off x="749808" y="4599432"/>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4526280"/>
            <a:ext cx="10405872" cy="292608"/>
          </a:xfrm>
          <a:prstGeom prst="rect">
            <a:avLst/>
          </a:prstGeom>
          <a:noFill/>
        </p:spPr>
        <p:txBody>
          <a:bodyPr wrap="square" lIns="0" rIns="0" tIns="0" bIns="0">
            <a:spAutoFit/>
          </a:bodyPr>
          <a:lstStyle/>
          <a:p>
            <a:pPr>
              <a:spcAft>
                <a:spcPts val="700"/>
              </a:spcAft>
              <a:defRPr sz="1700" b="1">
                <a:solidFill>
                  <a:srgbClr val="173A35"/>
                </a:solidFill>
                <a:latin typeface="Noto Sans CJK KR"/>
              </a:defRPr>
            </a:pPr>
            <a:r>
              <a:t>수집의 기준</a:t>
            </a:r>
          </a:p>
        </p:txBody>
      </p:sp>
      <p:sp>
        <p:nvSpPr>
          <p:cNvPr id="30" name="TextBox 29"/>
          <p:cNvSpPr txBox="1"/>
          <p:nvPr/>
        </p:nvSpPr>
        <p:spPr>
          <a:xfrm>
            <a:off x="950976" y="4882896"/>
            <a:ext cx="10405872" cy="347472"/>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같은 문장·영상·시각·카테고리는 중복 저장하지 않고 기존 자료로 안내합니다.</a:t>
            </a:r>
          </a:p>
        </p:txBody>
      </p:sp>
      <p:sp>
        <p:nvSpPr>
          <p:cNvPr id="31" name="Rectangle 30"/>
          <p:cNvSpPr/>
          <p:nvPr/>
        </p:nvSpPr>
        <p:spPr>
          <a:xfrm>
            <a:off x="749808" y="5330952"/>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0976" y="5257800"/>
            <a:ext cx="10405872" cy="292608"/>
          </a:xfrm>
          <a:prstGeom prst="rect">
            <a:avLst/>
          </a:prstGeom>
          <a:noFill/>
        </p:spPr>
        <p:txBody>
          <a:bodyPr wrap="square" lIns="0" rIns="0" tIns="0" bIns="0">
            <a:spAutoFit/>
          </a:bodyPr>
          <a:lstStyle/>
          <a:p>
            <a:pPr>
              <a:spcAft>
                <a:spcPts val="700"/>
              </a:spcAft>
              <a:defRPr sz="1700" b="1">
                <a:solidFill>
                  <a:srgbClr val="173A35"/>
                </a:solidFill>
                <a:latin typeface="Noto Sans CJK KR"/>
              </a:defRPr>
            </a:pPr>
            <a:r>
              <a:t>학습의 기준</a:t>
            </a:r>
          </a:p>
        </p:txBody>
      </p:sp>
      <p:sp>
        <p:nvSpPr>
          <p:cNvPr id="33" name="TextBox 32"/>
          <p:cNvSpPr txBox="1"/>
          <p:nvPr/>
        </p:nvSpPr>
        <p:spPr>
          <a:xfrm>
            <a:off x="950976" y="5614416"/>
            <a:ext cx="10405872" cy="347472"/>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복습은 실제 수행 날짜를 기록하며, 알림은 사용자가 선택한 시각에 한 번씩 예약합니다.</a:t>
            </a:r>
          </a:p>
        </p:txBody>
      </p:sp>
      <p:sp>
        <p:nvSpPr>
          <p:cNvPr id="34" name="Rectangle 33"/>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36" name="TextBox 35"/>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06 / 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02 / 정보 구조</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사이트맵: 7개 메뉴와 스크립트 작업 화면</a:t>
            </a:r>
          </a:p>
        </p:txBody>
      </p:sp>
      <p:sp>
        <p:nvSpPr>
          <p:cNvPr id="5" name="Rounded Rectangle 4"/>
          <p:cNvSpPr/>
          <p:nvPr/>
        </p:nvSpPr>
        <p:spPr>
          <a:xfrm>
            <a:off x="640080" y="2057400"/>
            <a:ext cx="2331720" cy="3383280"/>
          </a:xfrm>
          <a:prstGeom prst="roundRect">
            <a:avLst>
              <a:gd name="adj" fmla="val 14000"/>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331720"/>
            <a:ext cx="1828800" cy="457200"/>
          </a:xfrm>
          <a:prstGeom prst="rect">
            <a:avLst/>
          </a:prstGeom>
          <a:noFill/>
        </p:spPr>
        <p:txBody>
          <a:bodyPr wrap="square" lIns="0" rIns="0" tIns="0" bIns="0">
            <a:spAutoFit/>
          </a:bodyPr>
          <a:lstStyle/>
          <a:p>
            <a:pPr>
              <a:spcAft>
                <a:spcPts val="700"/>
              </a:spcAft>
              <a:defRPr sz="2500" b="1">
                <a:solidFill>
                  <a:srgbClr val="FFFFFF"/>
                </a:solidFill>
                <a:latin typeface="Noto Sans CJK KR"/>
              </a:defRPr>
            </a:pPr>
            <a:r>
              <a:t>말줍</a:t>
            </a:r>
          </a:p>
        </p:txBody>
      </p:sp>
      <p:sp>
        <p:nvSpPr>
          <p:cNvPr id="7" name="TextBox 6"/>
          <p:cNvSpPr txBox="1"/>
          <p:nvPr/>
        </p:nvSpPr>
        <p:spPr>
          <a:xfrm>
            <a:off x="896112" y="3154680"/>
            <a:ext cx="1828800" cy="1554480"/>
          </a:xfrm>
          <a:prstGeom prst="rect">
            <a:avLst/>
          </a:prstGeom>
          <a:noFill/>
        </p:spPr>
        <p:txBody>
          <a:bodyPr wrap="square" lIns="0" rIns="0" tIns="0" bIns="0">
            <a:spAutoFit/>
          </a:bodyPr>
          <a:lstStyle/>
          <a:p>
            <a:pPr>
              <a:spcAft>
                <a:spcPts val="700"/>
              </a:spcAft>
              <a:defRPr sz="1600" b="0">
                <a:solidFill>
                  <a:srgbClr val="FFFFFF"/>
                </a:solidFill>
                <a:latin typeface="Noto Sans CJK KR"/>
              </a:defRPr>
            </a:pPr>
            <a:r>
              <a:t>PC: 왼쪽 메뉴</a:t>
            </a:r>
          </a:p>
          <a:p>
            <a:pPr>
              <a:spcAft>
                <a:spcPts val="700"/>
              </a:spcAft>
              <a:defRPr sz="1600" b="0">
                <a:solidFill>
                  <a:srgbClr val="FFFFFF"/>
                </a:solidFill>
                <a:latin typeface="Noto Sans CJK KR"/>
              </a:defRPr>
            </a:pPr>
            <a:r>
              <a:t>모바일: 하단 5개 아이콘</a:t>
            </a:r>
          </a:p>
          <a:p>
            <a:pPr>
              <a:spcAft>
                <a:spcPts val="700"/>
              </a:spcAft>
              <a:defRPr sz="1600" b="0">
                <a:solidFill>
                  <a:srgbClr val="FFFFFF"/>
                </a:solidFill>
                <a:latin typeface="Noto Sans CJK KR"/>
              </a:defRPr>
            </a:pPr>
            <a:r>
              <a:t>우측 상단: 전체 메뉴</a:t>
            </a:r>
          </a:p>
        </p:txBody>
      </p:sp>
      <p:sp>
        <p:nvSpPr>
          <p:cNvPr id="8" name="Rounded Rectangle 7"/>
          <p:cNvSpPr/>
          <p:nvPr/>
        </p:nvSpPr>
        <p:spPr>
          <a:xfrm>
            <a:off x="3337560" y="2048256"/>
            <a:ext cx="8211312" cy="402336"/>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47872" y="2103120"/>
            <a:ext cx="2468880" cy="274320"/>
          </a:xfrm>
          <a:prstGeom prst="rect">
            <a:avLst/>
          </a:prstGeom>
          <a:noFill/>
        </p:spPr>
        <p:txBody>
          <a:bodyPr wrap="square" lIns="0" rIns="0" tIns="0" bIns="0">
            <a:spAutoFit/>
          </a:bodyPr>
          <a:lstStyle/>
          <a:p>
            <a:pPr>
              <a:spcAft>
                <a:spcPts val="700"/>
              </a:spcAft>
              <a:defRPr sz="1300" b="1">
                <a:solidFill>
                  <a:srgbClr val="173A35"/>
                </a:solidFill>
                <a:latin typeface="Noto Sans CJK KR"/>
              </a:defRPr>
            </a:pPr>
            <a:r>
              <a:t>학습 대시보드</a:t>
            </a:r>
          </a:p>
        </p:txBody>
      </p:sp>
      <p:sp>
        <p:nvSpPr>
          <p:cNvPr id="10" name="TextBox 9"/>
          <p:cNvSpPr txBox="1"/>
          <p:nvPr/>
        </p:nvSpPr>
        <p:spPr>
          <a:xfrm>
            <a:off x="6126480" y="2103120"/>
            <a:ext cx="5120640" cy="274320"/>
          </a:xfrm>
          <a:prstGeom prst="rect">
            <a:avLst/>
          </a:prstGeom>
          <a:noFill/>
        </p:spPr>
        <p:txBody>
          <a:bodyPr wrap="square" lIns="0" rIns="0" tIns="0" bIns="0">
            <a:spAutoFit/>
          </a:bodyPr>
          <a:lstStyle/>
          <a:p>
            <a:pPr>
              <a:spcAft>
                <a:spcPts val="700"/>
              </a:spcAft>
              <a:defRPr sz="1200" b="0">
                <a:solidFill>
                  <a:srgbClr val="58726A"/>
                </a:solidFill>
                <a:latin typeface="Noto Sans CJK KR"/>
              </a:defRPr>
            </a:pPr>
            <a:r>
              <a:t>주소 입력 / 최근 카드 / 통계</a:t>
            </a:r>
          </a:p>
        </p:txBody>
      </p:sp>
      <p:sp>
        <p:nvSpPr>
          <p:cNvPr id="11" name="Rounded Rectangle 10"/>
          <p:cNvSpPr/>
          <p:nvPr/>
        </p:nvSpPr>
        <p:spPr>
          <a:xfrm>
            <a:off x="3337560" y="2532888"/>
            <a:ext cx="8211312" cy="402336"/>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47872" y="2587752"/>
            <a:ext cx="2468880" cy="274320"/>
          </a:xfrm>
          <a:prstGeom prst="rect">
            <a:avLst/>
          </a:prstGeom>
          <a:noFill/>
        </p:spPr>
        <p:txBody>
          <a:bodyPr wrap="square" lIns="0" rIns="0" tIns="0" bIns="0">
            <a:spAutoFit/>
          </a:bodyPr>
          <a:lstStyle/>
          <a:p>
            <a:pPr>
              <a:spcAft>
                <a:spcPts val="700"/>
              </a:spcAft>
              <a:defRPr sz="1300" b="1">
                <a:solidFill>
                  <a:srgbClr val="173A35"/>
                </a:solidFill>
                <a:latin typeface="Noto Sans CJK KR"/>
              </a:defRPr>
            </a:pPr>
            <a:r>
              <a:t>내 표현 수집함</a:t>
            </a:r>
          </a:p>
        </p:txBody>
      </p:sp>
      <p:sp>
        <p:nvSpPr>
          <p:cNvPr id="13" name="TextBox 12"/>
          <p:cNvSpPr txBox="1"/>
          <p:nvPr/>
        </p:nvSpPr>
        <p:spPr>
          <a:xfrm>
            <a:off x="6126480" y="2587752"/>
            <a:ext cx="5120640" cy="274320"/>
          </a:xfrm>
          <a:prstGeom prst="rect">
            <a:avLst/>
          </a:prstGeom>
          <a:noFill/>
        </p:spPr>
        <p:txBody>
          <a:bodyPr wrap="square" lIns="0" rIns="0" tIns="0" bIns="0">
            <a:spAutoFit/>
          </a:bodyPr>
          <a:lstStyle/>
          <a:p>
            <a:pPr>
              <a:spcAft>
                <a:spcPts val="700"/>
              </a:spcAft>
              <a:defRPr sz="1200" b="0">
                <a:solidFill>
                  <a:srgbClr val="58726A"/>
                </a:solidFill>
                <a:latin typeface="Noto Sans CJK KR"/>
              </a:defRPr>
            </a:pPr>
            <a:r>
              <a:t>카드·검색·분류·수정·삭제</a:t>
            </a:r>
          </a:p>
        </p:txBody>
      </p:sp>
      <p:sp>
        <p:nvSpPr>
          <p:cNvPr id="14" name="Rounded Rectangle 13"/>
          <p:cNvSpPr/>
          <p:nvPr/>
        </p:nvSpPr>
        <p:spPr>
          <a:xfrm>
            <a:off x="3337560" y="3017520"/>
            <a:ext cx="8211312" cy="402336"/>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7872" y="3072384"/>
            <a:ext cx="2468880" cy="274320"/>
          </a:xfrm>
          <a:prstGeom prst="rect">
            <a:avLst/>
          </a:prstGeom>
          <a:noFill/>
        </p:spPr>
        <p:txBody>
          <a:bodyPr wrap="square" lIns="0" rIns="0" tIns="0" bIns="0">
            <a:spAutoFit/>
          </a:bodyPr>
          <a:lstStyle/>
          <a:p>
            <a:pPr>
              <a:spcAft>
                <a:spcPts val="700"/>
              </a:spcAft>
              <a:defRPr sz="1300" b="1">
                <a:solidFill>
                  <a:srgbClr val="173A35"/>
                </a:solidFill>
                <a:latin typeface="Noto Sans CJK KR"/>
              </a:defRPr>
            </a:pPr>
            <a:r>
              <a:t>오늘의 복습</a:t>
            </a:r>
          </a:p>
        </p:txBody>
      </p:sp>
      <p:sp>
        <p:nvSpPr>
          <p:cNvPr id="16" name="TextBox 15"/>
          <p:cNvSpPr txBox="1"/>
          <p:nvPr/>
        </p:nvSpPr>
        <p:spPr>
          <a:xfrm>
            <a:off x="6126480" y="3072384"/>
            <a:ext cx="5120640" cy="274320"/>
          </a:xfrm>
          <a:prstGeom prst="rect">
            <a:avLst/>
          </a:prstGeom>
          <a:noFill/>
        </p:spPr>
        <p:txBody>
          <a:bodyPr wrap="square" lIns="0" rIns="0" tIns="0" bIns="0">
            <a:spAutoFit/>
          </a:bodyPr>
          <a:lstStyle/>
          <a:p>
            <a:pPr>
              <a:spcAft>
                <a:spcPts val="700"/>
              </a:spcAft>
              <a:defRPr sz="1200" b="0">
                <a:solidFill>
                  <a:srgbClr val="58726A"/>
                </a:solidFill>
                <a:latin typeface="Noto Sans CJK KR"/>
              </a:defRPr>
            </a:pPr>
            <a:r>
              <a:t>빈칸 확인 / 복습 완료</a:t>
            </a:r>
          </a:p>
        </p:txBody>
      </p:sp>
      <p:sp>
        <p:nvSpPr>
          <p:cNvPr id="17" name="Rounded Rectangle 16"/>
          <p:cNvSpPr/>
          <p:nvPr/>
        </p:nvSpPr>
        <p:spPr>
          <a:xfrm>
            <a:off x="3337560" y="3502152"/>
            <a:ext cx="8211312" cy="402336"/>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47872" y="3557016"/>
            <a:ext cx="2468880" cy="274320"/>
          </a:xfrm>
          <a:prstGeom prst="rect">
            <a:avLst/>
          </a:prstGeom>
          <a:noFill/>
        </p:spPr>
        <p:txBody>
          <a:bodyPr wrap="square" lIns="0" rIns="0" tIns="0" bIns="0">
            <a:spAutoFit/>
          </a:bodyPr>
          <a:lstStyle/>
          <a:p>
            <a:pPr>
              <a:spcAft>
                <a:spcPts val="700"/>
              </a:spcAft>
              <a:defRPr sz="1300" b="1">
                <a:solidFill>
                  <a:srgbClr val="173A35"/>
                </a:solidFill>
                <a:latin typeface="Noto Sans CJK KR"/>
              </a:defRPr>
            </a:pPr>
            <a:r>
              <a:t>녹음 보관함</a:t>
            </a:r>
          </a:p>
        </p:txBody>
      </p:sp>
      <p:sp>
        <p:nvSpPr>
          <p:cNvPr id="19" name="TextBox 18"/>
          <p:cNvSpPr txBox="1"/>
          <p:nvPr/>
        </p:nvSpPr>
        <p:spPr>
          <a:xfrm>
            <a:off x="6126480" y="3557016"/>
            <a:ext cx="5120640" cy="274320"/>
          </a:xfrm>
          <a:prstGeom prst="rect">
            <a:avLst/>
          </a:prstGeom>
          <a:noFill/>
        </p:spPr>
        <p:txBody>
          <a:bodyPr wrap="square" lIns="0" rIns="0" tIns="0" bIns="0">
            <a:spAutoFit/>
          </a:bodyPr>
          <a:lstStyle/>
          <a:p>
            <a:pPr>
              <a:spcAft>
                <a:spcPts val="700"/>
              </a:spcAft>
              <a:defRPr sz="1200" b="0">
                <a:solidFill>
                  <a:srgbClr val="58726A"/>
                </a:solidFill>
                <a:latin typeface="Noto Sans CJK KR"/>
              </a:defRPr>
            </a:pPr>
            <a:r>
              <a:t>바로 녹음 / 저장 파일 목록</a:t>
            </a:r>
          </a:p>
        </p:txBody>
      </p:sp>
      <p:sp>
        <p:nvSpPr>
          <p:cNvPr id="20" name="Rounded Rectangle 19"/>
          <p:cNvSpPr/>
          <p:nvPr/>
        </p:nvSpPr>
        <p:spPr>
          <a:xfrm>
            <a:off x="3337560" y="3986784"/>
            <a:ext cx="8211312" cy="402336"/>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47872" y="4041648"/>
            <a:ext cx="2468880" cy="274320"/>
          </a:xfrm>
          <a:prstGeom prst="rect">
            <a:avLst/>
          </a:prstGeom>
          <a:noFill/>
        </p:spPr>
        <p:txBody>
          <a:bodyPr wrap="square" lIns="0" rIns="0" tIns="0" bIns="0">
            <a:spAutoFit/>
          </a:bodyPr>
          <a:lstStyle/>
          <a:p>
            <a:pPr>
              <a:spcAft>
                <a:spcPts val="700"/>
              </a:spcAft>
              <a:defRPr sz="1300" b="1">
                <a:solidFill>
                  <a:srgbClr val="173A35"/>
                </a:solidFill>
                <a:latin typeface="Noto Sans CJK KR"/>
              </a:defRPr>
            </a:pPr>
            <a:r>
              <a:t>학습 달력</a:t>
            </a:r>
          </a:p>
        </p:txBody>
      </p:sp>
      <p:sp>
        <p:nvSpPr>
          <p:cNvPr id="22" name="TextBox 21"/>
          <p:cNvSpPr txBox="1"/>
          <p:nvPr/>
        </p:nvSpPr>
        <p:spPr>
          <a:xfrm>
            <a:off x="6126480" y="4041648"/>
            <a:ext cx="5120640" cy="274320"/>
          </a:xfrm>
          <a:prstGeom prst="rect">
            <a:avLst/>
          </a:prstGeom>
          <a:noFill/>
        </p:spPr>
        <p:txBody>
          <a:bodyPr wrap="square" lIns="0" rIns="0" tIns="0" bIns="0">
            <a:spAutoFit/>
          </a:bodyPr>
          <a:lstStyle/>
          <a:p>
            <a:pPr>
              <a:spcAft>
                <a:spcPts val="700"/>
              </a:spcAft>
              <a:defRPr sz="1200" b="0">
                <a:solidFill>
                  <a:srgbClr val="58726A"/>
                </a:solidFill>
                <a:latin typeface="Noto Sans CJK KR"/>
              </a:defRPr>
            </a:pPr>
            <a:r>
              <a:t>학습·완료·예정·밀린 복습</a:t>
            </a:r>
          </a:p>
        </p:txBody>
      </p:sp>
      <p:sp>
        <p:nvSpPr>
          <p:cNvPr id="23" name="Rounded Rectangle 22"/>
          <p:cNvSpPr/>
          <p:nvPr/>
        </p:nvSpPr>
        <p:spPr>
          <a:xfrm>
            <a:off x="3337560" y="4471416"/>
            <a:ext cx="8211312" cy="402336"/>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47872" y="4526280"/>
            <a:ext cx="2468880" cy="274320"/>
          </a:xfrm>
          <a:prstGeom prst="rect">
            <a:avLst/>
          </a:prstGeom>
          <a:noFill/>
        </p:spPr>
        <p:txBody>
          <a:bodyPr wrap="square" lIns="0" rIns="0" tIns="0" bIns="0">
            <a:spAutoFit/>
          </a:bodyPr>
          <a:lstStyle/>
          <a:p>
            <a:pPr>
              <a:spcAft>
                <a:spcPts val="700"/>
              </a:spcAft>
              <a:defRPr sz="1300" b="1">
                <a:solidFill>
                  <a:srgbClr val="173A35"/>
                </a:solidFill>
                <a:latin typeface="Noto Sans CJK KR"/>
              </a:defRPr>
            </a:pPr>
            <a:r>
              <a:t>암기 체크리스트</a:t>
            </a:r>
          </a:p>
        </p:txBody>
      </p:sp>
      <p:sp>
        <p:nvSpPr>
          <p:cNvPr id="25" name="TextBox 24"/>
          <p:cNvSpPr txBox="1"/>
          <p:nvPr/>
        </p:nvSpPr>
        <p:spPr>
          <a:xfrm>
            <a:off x="6126480" y="4526280"/>
            <a:ext cx="5120640" cy="274320"/>
          </a:xfrm>
          <a:prstGeom prst="rect">
            <a:avLst/>
          </a:prstGeom>
          <a:noFill/>
        </p:spPr>
        <p:txBody>
          <a:bodyPr wrap="square" lIns="0" rIns="0" tIns="0" bIns="0">
            <a:spAutoFit/>
          </a:bodyPr>
          <a:lstStyle/>
          <a:p>
            <a:pPr>
              <a:spcAft>
                <a:spcPts val="700"/>
              </a:spcAft>
              <a:defRPr sz="1200" b="0">
                <a:solidFill>
                  <a:srgbClr val="58726A"/>
                </a:solidFill>
                <a:latin typeface="Noto Sans CJK KR"/>
              </a:defRPr>
            </a:pPr>
            <a:r>
              <a:t>꼭 외울 문장 / 암기 상태</a:t>
            </a:r>
          </a:p>
        </p:txBody>
      </p:sp>
      <p:sp>
        <p:nvSpPr>
          <p:cNvPr id="26" name="Rounded Rectangle 25"/>
          <p:cNvSpPr/>
          <p:nvPr/>
        </p:nvSpPr>
        <p:spPr>
          <a:xfrm>
            <a:off x="3337560" y="4956048"/>
            <a:ext cx="8211312" cy="402336"/>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47872" y="5010912"/>
            <a:ext cx="2468880" cy="274320"/>
          </a:xfrm>
          <a:prstGeom prst="rect">
            <a:avLst/>
          </a:prstGeom>
          <a:noFill/>
        </p:spPr>
        <p:txBody>
          <a:bodyPr wrap="square" lIns="0" rIns="0" tIns="0" bIns="0">
            <a:spAutoFit/>
          </a:bodyPr>
          <a:lstStyle/>
          <a:p>
            <a:pPr>
              <a:spcAft>
                <a:spcPts val="700"/>
              </a:spcAft>
              <a:defRPr sz="1300" b="1">
                <a:solidFill>
                  <a:srgbClr val="173A35"/>
                </a:solidFill>
                <a:latin typeface="Noto Sans CJK KR"/>
              </a:defRPr>
            </a:pPr>
            <a:r>
              <a:t>데이터 관리</a:t>
            </a:r>
          </a:p>
        </p:txBody>
      </p:sp>
      <p:sp>
        <p:nvSpPr>
          <p:cNvPr id="28" name="TextBox 27"/>
          <p:cNvSpPr txBox="1"/>
          <p:nvPr/>
        </p:nvSpPr>
        <p:spPr>
          <a:xfrm>
            <a:off x="6126480" y="5010912"/>
            <a:ext cx="5120640" cy="274320"/>
          </a:xfrm>
          <a:prstGeom prst="rect">
            <a:avLst/>
          </a:prstGeom>
          <a:noFill/>
        </p:spPr>
        <p:txBody>
          <a:bodyPr wrap="square" lIns="0" rIns="0" tIns="0" bIns="0">
            <a:spAutoFit/>
          </a:bodyPr>
          <a:lstStyle/>
          <a:p>
            <a:pPr>
              <a:spcAft>
                <a:spcPts val="700"/>
              </a:spcAft>
              <a:defRPr sz="1200" b="0">
                <a:solidFill>
                  <a:srgbClr val="58726A"/>
                </a:solidFill>
                <a:latin typeface="Noto Sans CJK KR"/>
              </a:defRPr>
            </a:pPr>
            <a:r>
              <a:t>Sheets / 백업·복원 / 푸시</a:t>
            </a:r>
          </a:p>
        </p:txBody>
      </p:sp>
      <p:sp>
        <p:nvSpPr>
          <p:cNvPr id="29" name="Rounded Rectangle 28"/>
          <p:cNvSpPr/>
          <p:nvPr/>
        </p:nvSpPr>
        <p:spPr>
          <a:xfrm>
            <a:off x="621792" y="5833872"/>
            <a:ext cx="10954512" cy="438912"/>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916168"/>
            <a:ext cx="10561320" cy="2743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대시보드 → 스크립트 작업 화면 → 문장 카드 상세(뜻·메모·녹음·알림)로 연결</a:t>
            </a:r>
          </a:p>
        </p:txBody>
      </p:sp>
      <p:sp>
        <p:nvSpPr>
          <p:cNvPr id="31" name="Rectangle 30"/>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33" name="TextBox 32"/>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07 / 32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03 / 주요 화면 · 대시보드</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메인 화면은 주소 입력과 최근 학습에 집중합니다.</a:t>
            </a:r>
          </a:p>
        </p:txBody>
      </p:sp>
      <p:sp>
        <p:nvSpPr>
          <p:cNvPr id="5" name="TextBox 4"/>
          <p:cNvSpPr txBox="1"/>
          <p:nvPr/>
        </p:nvSpPr>
        <p:spPr>
          <a:xfrm>
            <a:off x="621792" y="1609344"/>
            <a:ext cx="10972800" cy="457200"/>
          </a:xfrm>
          <a:prstGeom prst="rect">
            <a:avLst/>
          </a:prstGeom>
          <a:noFill/>
        </p:spPr>
        <p:txBody>
          <a:bodyPr wrap="square" lIns="0" rIns="0" tIns="0" bIns="0">
            <a:spAutoFit/>
          </a:bodyPr>
          <a:lstStyle/>
          <a:p>
            <a:pPr>
              <a:spcAft>
                <a:spcPts val="700"/>
              </a:spcAft>
              <a:defRPr sz="1300" b="0">
                <a:solidFill>
                  <a:srgbClr val="58726A"/>
                </a:solidFill>
                <a:latin typeface="Noto Sans CJK KR"/>
              </a:defRPr>
            </a:pPr>
            <a:r>
              <a:t>현재 로컬 실행 화면 · 설명용 데모 데이터</a:t>
            </a:r>
          </a:p>
        </p:txBody>
      </p:sp>
      <p:pic>
        <p:nvPicPr>
          <p:cNvPr id="6" name="Picture 5" descr="desktop-home.png"/>
          <p:cNvPicPr>
            <a:picLocks noChangeAspect="1"/>
          </p:cNvPicPr>
          <p:nvPr/>
        </p:nvPicPr>
        <p:blipFill>
          <a:blip r:embed="rId3"/>
          <a:stretch>
            <a:fillRect/>
          </a:stretch>
        </p:blipFill>
        <p:spPr>
          <a:xfrm>
            <a:off x="1347825" y="2048256"/>
            <a:ext cx="5991148" cy="4160520"/>
          </a:xfrm>
          <a:prstGeom prst="rect">
            <a:avLst/>
          </a:prstGeom>
        </p:spPr>
      </p:pic>
      <p:sp>
        <p:nvSpPr>
          <p:cNvPr id="7" name="Rectangle 6"/>
          <p:cNvSpPr/>
          <p:nvPr/>
        </p:nvSpPr>
        <p:spPr>
          <a:xfrm>
            <a:off x="8366760" y="2359152"/>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67928" y="2286000"/>
            <a:ext cx="2907791" cy="292608"/>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상단 압축</a:t>
            </a:r>
          </a:p>
        </p:txBody>
      </p:sp>
      <p:sp>
        <p:nvSpPr>
          <p:cNvPr id="9" name="TextBox 8"/>
          <p:cNvSpPr txBox="1"/>
          <p:nvPr/>
        </p:nvSpPr>
        <p:spPr>
          <a:xfrm>
            <a:off x="8567928" y="2642616"/>
            <a:ext cx="2907791" cy="667512"/>
          </a:xfrm>
          <a:prstGeom prst="rect">
            <a:avLst/>
          </a:prstGeom>
          <a:noFill/>
        </p:spPr>
        <p:txBody>
          <a:bodyPr wrap="square" lIns="0" rIns="0" tIns="0" bIns="0">
            <a:spAutoFit/>
          </a:bodyPr>
          <a:lstStyle/>
          <a:p>
            <a:pPr>
              <a:spcAft>
                <a:spcPts val="700"/>
              </a:spcAft>
              <a:defRPr sz="1300" b="0">
                <a:solidFill>
                  <a:srgbClr val="58726A"/>
                </a:solidFill>
                <a:latin typeface="Noto Sans CJK KR"/>
              </a:defRPr>
            </a:pPr>
            <a:r>
              <a:t>중복 소개 영역을 줄인 전면 헤더</a:t>
            </a:r>
          </a:p>
        </p:txBody>
      </p:sp>
      <p:sp>
        <p:nvSpPr>
          <p:cNvPr id="10" name="Rectangle 9"/>
          <p:cNvSpPr/>
          <p:nvPr/>
        </p:nvSpPr>
        <p:spPr>
          <a:xfrm>
            <a:off x="8366760" y="3410712"/>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67928" y="3337560"/>
            <a:ext cx="2907791" cy="292608"/>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주소 기반 시작</a:t>
            </a:r>
          </a:p>
        </p:txBody>
      </p:sp>
      <p:sp>
        <p:nvSpPr>
          <p:cNvPr id="12" name="TextBox 11"/>
          <p:cNvSpPr txBox="1"/>
          <p:nvPr/>
        </p:nvSpPr>
        <p:spPr>
          <a:xfrm>
            <a:off x="8567928" y="3694176"/>
            <a:ext cx="2907791" cy="667512"/>
          </a:xfrm>
          <a:prstGeom prst="rect">
            <a:avLst/>
          </a:prstGeom>
          <a:noFill/>
        </p:spPr>
        <p:txBody>
          <a:bodyPr wrap="square" lIns="0" rIns="0" tIns="0" bIns="0">
            <a:spAutoFit/>
          </a:bodyPr>
          <a:lstStyle/>
          <a:p>
            <a:pPr>
              <a:spcAft>
                <a:spcPts val="700"/>
              </a:spcAft>
              <a:defRPr sz="1300" b="0">
                <a:solidFill>
                  <a:srgbClr val="58726A"/>
                </a:solidFill>
                <a:latin typeface="Noto Sans CJK KR"/>
              </a:defRPr>
            </a:pPr>
            <a:r>
              <a:t>언어 선택·보관 스크립트 재열기</a:t>
            </a:r>
          </a:p>
        </p:txBody>
      </p:sp>
      <p:sp>
        <p:nvSpPr>
          <p:cNvPr id="13" name="Rectangle 12"/>
          <p:cNvSpPr/>
          <p:nvPr/>
        </p:nvSpPr>
        <p:spPr>
          <a:xfrm>
            <a:off x="8366760" y="4462272"/>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67928" y="4389120"/>
            <a:ext cx="2907791" cy="292608"/>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최근 표현 카드</a:t>
            </a:r>
          </a:p>
        </p:txBody>
      </p:sp>
      <p:sp>
        <p:nvSpPr>
          <p:cNvPr id="15" name="TextBox 14"/>
          <p:cNvSpPr txBox="1"/>
          <p:nvPr/>
        </p:nvSpPr>
        <p:spPr>
          <a:xfrm>
            <a:off x="8567928" y="4745736"/>
            <a:ext cx="2907791" cy="667512"/>
          </a:xfrm>
          <a:prstGeom prst="rect">
            <a:avLst/>
          </a:prstGeom>
          <a:noFill/>
        </p:spPr>
        <p:txBody>
          <a:bodyPr wrap="square" lIns="0" rIns="0" tIns="0" bIns="0">
            <a:spAutoFit/>
          </a:bodyPr>
          <a:lstStyle/>
          <a:p>
            <a:pPr>
              <a:spcAft>
                <a:spcPts val="700"/>
              </a:spcAft>
              <a:defRPr sz="1300" b="0">
                <a:solidFill>
                  <a:srgbClr val="58726A"/>
                </a:solidFill>
                <a:latin typeface="Noto Sans CJK KR"/>
              </a:defRPr>
            </a:pPr>
            <a:r>
              <a:t>카드 열기·우측 삭제 버튼</a:t>
            </a:r>
          </a:p>
        </p:txBody>
      </p:sp>
      <p:sp>
        <p:nvSpPr>
          <p:cNvPr id="16" name="Rectangle 15"/>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18" name="TextBox 17"/>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08 / 32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03 / 주요 화면 · 모바일</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모바일은 스크립트를 읽으며 오른쪽 메모판으로 수집합니다.</a:t>
            </a:r>
          </a:p>
        </p:txBody>
      </p:sp>
      <p:pic>
        <p:nvPicPr>
          <p:cNvPr id="5" name="Picture 4" descr="mobile-memo.png"/>
          <p:cNvPicPr>
            <a:picLocks noChangeAspect="1"/>
          </p:cNvPicPr>
          <p:nvPr/>
        </p:nvPicPr>
        <p:blipFill>
          <a:blip r:embed="rId3"/>
          <a:stretch>
            <a:fillRect/>
          </a:stretch>
        </p:blipFill>
        <p:spPr>
          <a:xfrm>
            <a:off x="1238502" y="1938528"/>
            <a:ext cx="2049274" cy="4434840"/>
          </a:xfrm>
          <a:prstGeom prst="rect">
            <a:avLst/>
          </a:prstGeom>
        </p:spPr>
      </p:pic>
      <p:sp>
        <p:nvSpPr>
          <p:cNvPr id="6" name="Rectangle 5"/>
          <p:cNvSpPr/>
          <p:nvPr/>
        </p:nvSpPr>
        <p:spPr>
          <a:xfrm>
            <a:off x="4224528" y="2313432"/>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25696" y="2240280"/>
            <a:ext cx="6793992" cy="292608"/>
          </a:xfrm>
          <a:prstGeom prst="rect">
            <a:avLst/>
          </a:prstGeom>
          <a:noFill/>
        </p:spPr>
        <p:txBody>
          <a:bodyPr wrap="square" lIns="0" rIns="0" tIns="0" bIns="0">
            <a:spAutoFit/>
          </a:bodyPr>
          <a:lstStyle/>
          <a:p>
            <a:pPr>
              <a:spcAft>
                <a:spcPts val="700"/>
              </a:spcAft>
              <a:defRPr sz="1700" b="1">
                <a:solidFill>
                  <a:srgbClr val="173A35"/>
                </a:solidFill>
                <a:latin typeface="Noto Sans CJK KR"/>
              </a:defRPr>
            </a:pPr>
            <a:r>
              <a:t>작은 수집판</a:t>
            </a:r>
          </a:p>
        </p:txBody>
      </p:sp>
      <p:sp>
        <p:nvSpPr>
          <p:cNvPr id="8" name="TextBox 7"/>
          <p:cNvSpPr txBox="1"/>
          <p:nvPr/>
        </p:nvSpPr>
        <p:spPr>
          <a:xfrm>
            <a:off x="4425696" y="2596896"/>
            <a:ext cx="6793992" cy="448056"/>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형광펜·메모 버튼을 눌러 오른쪽 아래에서 열기</a:t>
            </a:r>
          </a:p>
        </p:txBody>
      </p:sp>
      <p:sp>
        <p:nvSpPr>
          <p:cNvPr id="9" name="Rectangle 8"/>
          <p:cNvSpPr/>
          <p:nvPr/>
        </p:nvSpPr>
        <p:spPr>
          <a:xfrm>
            <a:off x="4224528" y="3145536"/>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25696" y="3072384"/>
            <a:ext cx="6793992" cy="292608"/>
          </a:xfrm>
          <a:prstGeom prst="rect">
            <a:avLst/>
          </a:prstGeom>
          <a:noFill/>
        </p:spPr>
        <p:txBody>
          <a:bodyPr wrap="square" lIns="0" rIns="0" tIns="0" bIns="0">
            <a:spAutoFit/>
          </a:bodyPr>
          <a:lstStyle/>
          <a:p>
            <a:pPr>
              <a:spcAft>
                <a:spcPts val="700"/>
              </a:spcAft>
              <a:defRPr sz="1700" b="1">
                <a:solidFill>
                  <a:srgbClr val="173A35"/>
                </a:solidFill>
                <a:latin typeface="Noto Sans CJK KR"/>
              </a:defRPr>
            </a:pPr>
            <a:r>
              <a:t>원형 형광펜 5색</a:t>
            </a:r>
          </a:p>
        </p:txBody>
      </p:sp>
      <p:sp>
        <p:nvSpPr>
          <p:cNvPr id="11" name="TextBox 10"/>
          <p:cNvSpPr txBox="1"/>
          <p:nvPr/>
        </p:nvSpPr>
        <p:spPr>
          <a:xfrm>
            <a:off x="4425696" y="3429000"/>
            <a:ext cx="6793992" cy="448056"/>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제목 아래에 배치 / 선택 색상과 카테고리 연결</a:t>
            </a:r>
          </a:p>
        </p:txBody>
      </p:sp>
      <p:sp>
        <p:nvSpPr>
          <p:cNvPr id="12" name="Rectangle 11"/>
          <p:cNvSpPr/>
          <p:nvPr/>
        </p:nvSpPr>
        <p:spPr>
          <a:xfrm>
            <a:off x="4224528" y="3977640"/>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25696" y="3904488"/>
            <a:ext cx="6793992" cy="292608"/>
          </a:xfrm>
          <a:prstGeom prst="rect">
            <a:avLst/>
          </a:prstGeom>
          <a:noFill/>
        </p:spPr>
        <p:txBody>
          <a:bodyPr wrap="square" lIns="0" rIns="0" tIns="0" bIns="0">
            <a:spAutoFit/>
          </a:bodyPr>
          <a:lstStyle/>
          <a:p>
            <a:pPr>
              <a:spcAft>
                <a:spcPts val="700"/>
              </a:spcAft>
              <a:defRPr sz="1700" b="1">
                <a:solidFill>
                  <a:srgbClr val="173A35"/>
                </a:solidFill>
                <a:latin typeface="Noto Sans CJK KR"/>
              </a:defRPr>
            </a:pPr>
            <a:r>
              <a:t>선택·드래그·수집</a:t>
            </a:r>
          </a:p>
        </p:txBody>
      </p:sp>
      <p:sp>
        <p:nvSpPr>
          <p:cNvPr id="14" name="TextBox 13"/>
          <p:cNvSpPr txBox="1"/>
          <p:nvPr/>
        </p:nvSpPr>
        <p:spPr>
          <a:xfrm>
            <a:off x="4425696" y="4261104"/>
            <a:ext cx="6793992" cy="448056"/>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선택 내용 미리보기와 터치 드래그 / 수집 버튼 대안</a:t>
            </a:r>
          </a:p>
        </p:txBody>
      </p:sp>
      <p:sp>
        <p:nvSpPr>
          <p:cNvPr id="15" name="Rectangle 14"/>
          <p:cNvSpPr/>
          <p:nvPr/>
        </p:nvSpPr>
        <p:spPr>
          <a:xfrm>
            <a:off x="4224528" y="4809744"/>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4736592"/>
            <a:ext cx="6793992" cy="292608"/>
          </a:xfrm>
          <a:prstGeom prst="rect">
            <a:avLst/>
          </a:prstGeom>
          <a:noFill/>
        </p:spPr>
        <p:txBody>
          <a:bodyPr wrap="square" lIns="0" rIns="0" tIns="0" bIns="0">
            <a:spAutoFit/>
          </a:bodyPr>
          <a:lstStyle/>
          <a:p>
            <a:pPr>
              <a:spcAft>
                <a:spcPts val="700"/>
              </a:spcAft>
              <a:defRPr sz="1700" b="1">
                <a:solidFill>
                  <a:srgbClr val="173A35"/>
                </a:solidFill>
                <a:latin typeface="Noto Sans CJK KR"/>
              </a:defRPr>
            </a:pPr>
            <a:r>
              <a:t>문장 삭제와 개수 안내</a:t>
            </a:r>
          </a:p>
        </p:txBody>
      </p:sp>
      <p:sp>
        <p:nvSpPr>
          <p:cNvPr id="17" name="TextBox 16"/>
          <p:cNvSpPr txBox="1"/>
          <p:nvPr/>
        </p:nvSpPr>
        <p:spPr>
          <a:xfrm>
            <a:off x="4425696" y="5093207"/>
            <a:ext cx="6793992" cy="448056"/>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수집 문장 선택 후 삭제 / 신규·중복 수집 안내 분리</a:t>
            </a:r>
          </a:p>
        </p:txBody>
      </p:sp>
      <p:sp>
        <p:nvSpPr>
          <p:cNvPr id="18" name="Rectangle 17"/>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20" name="TextBox 19"/>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09 / 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03 / 기능 · 스크립트</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자막은 “공개 자막 가져오기”를 기본으로 합니다.</a:t>
            </a:r>
          </a:p>
        </p:txBody>
      </p:sp>
      <p:sp>
        <p:nvSpPr>
          <p:cNvPr id="5" name="Rounded Rectangle 4"/>
          <p:cNvSpPr/>
          <p:nvPr/>
        </p:nvSpPr>
        <p:spPr>
          <a:xfrm>
            <a:off x="621792" y="2148840"/>
            <a:ext cx="3502152" cy="333756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2331720"/>
            <a:ext cx="3081528"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INPUT</a:t>
            </a:r>
          </a:p>
        </p:txBody>
      </p:sp>
      <p:sp>
        <p:nvSpPr>
          <p:cNvPr id="7" name="TextBox 6"/>
          <p:cNvSpPr txBox="1"/>
          <p:nvPr/>
        </p:nvSpPr>
        <p:spPr>
          <a:xfrm>
            <a:off x="832104" y="2807208"/>
            <a:ext cx="3081528"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주소·파일</a:t>
            </a:r>
          </a:p>
        </p:txBody>
      </p:sp>
      <p:sp>
        <p:nvSpPr>
          <p:cNvPr id="8" name="TextBox 7"/>
          <p:cNvSpPr txBox="1"/>
          <p:nvPr/>
        </p:nvSpPr>
        <p:spPr>
          <a:xfrm>
            <a:off x="832104" y="3566160"/>
            <a:ext cx="3081528" cy="180136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YouTube watch / short / live URL 검증</a:t>
            </a:r>
          </a:p>
          <a:p>
            <a:pPr>
              <a:spcAft>
                <a:spcPts val="700"/>
              </a:spcAft>
              <a:defRPr sz="1500" b="0">
                <a:solidFill>
                  <a:srgbClr val="58726A"/>
                </a:solidFill>
                <a:latin typeface="Noto Sans CJK KR"/>
              </a:defRPr>
            </a:pPr>
            <a:r>
              <a:t>영어·한국어·일본어 선택</a:t>
            </a:r>
          </a:p>
          <a:p>
            <a:pPr>
              <a:spcAft>
                <a:spcPts val="700"/>
              </a:spcAft>
              <a:defRPr sz="1500" b="0">
                <a:solidFill>
                  <a:srgbClr val="58726A"/>
                </a:solidFill>
                <a:latin typeface="Noto Sans CJK KR"/>
              </a:defRPr>
            </a:pPr>
            <a:r>
              <a:t>SRT·VTT 파일 대체 가져오기</a:t>
            </a:r>
          </a:p>
        </p:txBody>
      </p:sp>
      <p:sp>
        <p:nvSpPr>
          <p:cNvPr id="9" name="Rounded Rectangle 8"/>
          <p:cNvSpPr/>
          <p:nvPr/>
        </p:nvSpPr>
        <p:spPr>
          <a:xfrm>
            <a:off x="4343400" y="2148840"/>
            <a:ext cx="3502152" cy="333756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331720"/>
            <a:ext cx="3081528"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PROVIDER</a:t>
            </a:r>
          </a:p>
        </p:txBody>
      </p:sp>
      <p:sp>
        <p:nvSpPr>
          <p:cNvPr id="11" name="TextBox 10"/>
          <p:cNvSpPr txBox="1"/>
          <p:nvPr/>
        </p:nvSpPr>
        <p:spPr>
          <a:xfrm>
            <a:off x="4553712" y="2807208"/>
            <a:ext cx="3081528"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서버 자막 처리</a:t>
            </a:r>
          </a:p>
        </p:txBody>
      </p:sp>
      <p:sp>
        <p:nvSpPr>
          <p:cNvPr id="12" name="TextBox 11"/>
          <p:cNvSpPr txBox="1"/>
          <p:nvPr/>
        </p:nvSpPr>
        <p:spPr>
          <a:xfrm>
            <a:off x="4553712" y="3566160"/>
            <a:ext cx="3081528" cy="180136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Supadata: native 모드</a:t>
            </a:r>
          </a:p>
          <a:p>
            <a:pPr>
              <a:spcAft>
                <a:spcPts val="700"/>
              </a:spcAft>
              <a:defRPr sz="1500" b="0">
                <a:solidFill>
                  <a:srgbClr val="58726A"/>
                </a:solidFill>
                <a:latin typeface="Noto Sans CJK KR"/>
              </a:defRPr>
            </a:pPr>
            <a:r>
              <a:t>yt-dlp: 로컬 추출기</a:t>
            </a:r>
          </a:p>
          <a:p>
            <a:pPr>
              <a:spcAft>
                <a:spcPts val="700"/>
              </a:spcAft>
              <a:defRPr sz="1500" b="0">
                <a:solidFill>
                  <a:srgbClr val="58726A"/>
                </a:solidFill>
                <a:latin typeface="Noto Sans CJK KR"/>
              </a:defRPr>
            </a:pPr>
            <a:r>
              <a:t>시간 단위를 초로 정규화</a:t>
            </a:r>
          </a:p>
        </p:txBody>
      </p:sp>
      <p:sp>
        <p:nvSpPr>
          <p:cNvPr id="13" name="Rounded Rectangle 12"/>
          <p:cNvSpPr/>
          <p:nvPr/>
        </p:nvSpPr>
        <p:spPr>
          <a:xfrm>
            <a:off x="8065008" y="2148840"/>
            <a:ext cx="3502152" cy="333756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331720"/>
            <a:ext cx="3081528"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READ</a:t>
            </a:r>
          </a:p>
        </p:txBody>
      </p:sp>
      <p:sp>
        <p:nvSpPr>
          <p:cNvPr id="15" name="TextBox 14"/>
          <p:cNvSpPr txBox="1"/>
          <p:nvPr/>
        </p:nvSpPr>
        <p:spPr>
          <a:xfrm>
            <a:off x="8275320" y="2807208"/>
            <a:ext cx="3081528"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읽기·검색</a:t>
            </a:r>
          </a:p>
        </p:txBody>
      </p:sp>
      <p:sp>
        <p:nvSpPr>
          <p:cNvPr id="16" name="TextBox 15"/>
          <p:cNvSpPr txBox="1"/>
          <p:nvPr/>
        </p:nvSpPr>
        <p:spPr>
          <a:xfrm>
            <a:off x="8275320" y="3566160"/>
            <a:ext cx="3081528" cy="180136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시간별 문장 리스트</a:t>
            </a:r>
          </a:p>
          <a:p>
            <a:pPr>
              <a:spcAft>
                <a:spcPts val="700"/>
              </a:spcAft>
              <a:defRPr sz="1500" b="0">
                <a:solidFill>
                  <a:srgbClr val="58726A"/>
                </a:solidFill>
                <a:latin typeface="Noto Sans CJK KR"/>
              </a:defRPr>
            </a:pPr>
            <a:r>
              <a:t>검색·표시한 줄 필터</a:t>
            </a:r>
          </a:p>
          <a:p>
            <a:pPr>
              <a:spcAft>
                <a:spcPts val="700"/>
              </a:spcAft>
              <a:defRPr sz="1500" b="0">
                <a:solidFill>
                  <a:srgbClr val="58726A"/>
                </a:solidFill>
                <a:latin typeface="Noto Sans CJK KR"/>
              </a:defRPr>
            </a:pPr>
            <a:r>
              <a:t>원본 영상의 해당 시각으로 이동</a:t>
            </a:r>
          </a:p>
        </p:txBody>
      </p:sp>
      <p:sp>
        <p:nvSpPr>
          <p:cNvPr id="17" name="Rounded Rectangle 16"/>
          <p:cNvSpPr/>
          <p:nvPr/>
        </p:nvSpPr>
        <p:spPr>
          <a:xfrm>
            <a:off x="621792" y="5833872"/>
            <a:ext cx="10954512" cy="438912"/>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916168"/>
            <a:ext cx="10561320" cy="2743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Render의 YouTube 봇 확인은 로컬 추출을 막을 수 있습니다. API도 모든 영상의 성공을 보장하지 않습니다.</a:t>
            </a:r>
          </a:p>
        </p:txBody>
      </p:sp>
      <p:sp>
        <p:nvSpPr>
          <p:cNvPr id="19" name="Rectangle 18"/>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21" name="TextBox 20"/>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10 / 32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03 / 기능 · 선택·분류</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형광펜 색을 정보의 분류 체계로 사용합니다.</a:t>
            </a:r>
          </a:p>
        </p:txBody>
      </p:sp>
      <p:sp>
        <p:nvSpPr>
          <p:cNvPr id="5" name="Rounded Rectangle 4"/>
          <p:cNvSpPr/>
          <p:nvPr/>
        </p:nvSpPr>
        <p:spPr>
          <a:xfrm>
            <a:off x="777240" y="2331720"/>
            <a:ext cx="2039112" cy="1673352"/>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81328" y="2606040"/>
            <a:ext cx="594360" cy="594360"/>
          </a:xfrm>
          <a:prstGeom prst="ellipse">
            <a:avLst/>
          </a:prstGeom>
          <a:solidFill>
            <a:srgbClr val="FFD166"/>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8" y="3346704"/>
            <a:ext cx="1645920" cy="411480"/>
          </a:xfrm>
          <a:prstGeom prst="rect">
            <a:avLst/>
          </a:prstGeom>
          <a:noFill/>
        </p:spPr>
        <p:txBody>
          <a:bodyPr wrap="square" lIns="0" rIns="0" tIns="0" bIns="0">
            <a:spAutoFit/>
          </a:bodyPr>
          <a:lstStyle/>
          <a:p>
            <a:pPr algn="ctr">
              <a:spcAft>
                <a:spcPts val="700"/>
              </a:spcAft>
              <a:defRPr sz="1900" b="1">
                <a:solidFill>
                  <a:srgbClr val="173A35"/>
                </a:solidFill>
                <a:latin typeface="Noto Sans CJK KR"/>
              </a:defRPr>
            </a:pPr>
            <a:r>
              <a:t>단어</a:t>
            </a:r>
          </a:p>
        </p:txBody>
      </p:sp>
      <p:sp>
        <p:nvSpPr>
          <p:cNvPr id="8" name="Rounded Rectangle 7"/>
          <p:cNvSpPr/>
          <p:nvPr/>
        </p:nvSpPr>
        <p:spPr>
          <a:xfrm>
            <a:off x="3063240" y="2331720"/>
            <a:ext cx="2039112" cy="1673352"/>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67328" y="2606040"/>
            <a:ext cx="594360" cy="594360"/>
          </a:xfrm>
          <a:prstGeom prst="ellipse">
            <a:avLst/>
          </a:prstGeom>
          <a:solidFill>
            <a:srgbClr val="CCEAC3"/>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64408" y="3346704"/>
            <a:ext cx="1645920" cy="411480"/>
          </a:xfrm>
          <a:prstGeom prst="rect">
            <a:avLst/>
          </a:prstGeom>
          <a:noFill/>
        </p:spPr>
        <p:txBody>
          <a:bodyPr wrap="square" lIns="0" rIns="0" tIns="0" bIns="0">
            <a:spAutoFit/>
          </a:bodyPr>
          <a:lstStyle/>
          <a:p>
            <a:pPr algn="ctr">
              <a:spcAft>
                <a:spcPts val="700"/>
              </a:spcAft>
              <a:defRPr sz="1900" b="1">
                <a:solidFill>
                  <a:srgbClr val="173A35"/>
                </a:solidFill>
                <a:latin typeface="Noto Sans CJK KR"/>
              </a:defRPr>
            </a:pPr>
            <a:r>
              <a:t>문장</a:t>
            </a:r>
          </a:p>
        </p:txBody>
      </p:sp>
      <p:sp>
        <p:nvSpPr>
          <p:cNvPr id="11" name="Rounded Rectangle 10"/>
          <p:cNvSpPr/>
          <p:nvPr/>
        </p:nvSpPr>
        <p:spPr>
          <a:xfrm>
            <a:off x="5349240" y="2331720"/>
            <a:ext cx="2039112" cy="1673352"/>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053327" y="2606040"/>
            <a:ext cx="594360" cy="594360"/>
          </a:xfrm>
          <a:prstGeom prst="ellipse">
            <a:avLst/>
          </a:prstGeom>
          <a:solidFill>
            <a:srgbClr val="E0F2FE"/>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50407" y="3346704"/>
            <a:ext cx="1645920" cy="411480"/>
          </a:xfrm>
          <a:prstGeom prst="rect">
            <a:avLst/>
          </a:prstGeom>
          <a:noFill/>
        </p:spPr>
        <p:txBody>
          <a:bodyPr wrap="square" lIns="0" rIns="0" tIns="0" bIns="0">
            <a:spAutoFit/>
          </a:bodyPr>
          <a:lstStyle/>
          <a:p>
            <a:pPr algn="ctr">
              <a:spcAft>
                <a:spcPts val="700"/>
              </a:spcAft>
              <a:defRPr sz="1900" b="1">
                <a:solidFill>
                  <a:srgbClr val="173A35"/>
                </a:solidFill>
                <a:latin typeface="Noto Sans CJK KR"/>
              </a:defRPr>
            </a:pPr>
            <a:r>
              <a:t>표현</a:t>
            </a:r>
          </a:p>
        </p:txBody>
      </p:sp>
      <p:sp>
        <p:nvSpPr>
          <p:cNvPr id="14" name="Rounded Rectangle 13"/>
          <p:cNvSpPr/>
          <p:nvPr/>
        </p:nvSpPr>
        <p:spPr>
          <a:xfrm>
            <a:off x="7635240" y="2331720"/>
            <a:ext cx="2039112" cy="1673352"/>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39327" y="2606040"/>
            <a:ext cx="594360" cy="594360"/>
          </a:xfrm>
          <a:prstGeom prst="ellipse">
            <a:avLst/>
          </a:prstGeom>
          <a:solidFill>
            <a:srgbClr val="FFD5E2"/>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36408" y="3346704"/>
            <a:ext cx="1645920" cy="411480"/>
          </a:xfrm>
          <a:prstGeom prst="rect">
            <a:avLst/>
          </a:prstGeom>
          <a:noFill/>
        </p:spPr>
        <p:txBody>
          <a:bodyPr wrap="square" lIns="0" rIns="0" tIns="0" bIns="0">
            <a:spAutoFit/>
          </a:bodyPr>
          <a:lstStyle/>
          <a:p>
            <a:pPr algn="ctr">
              <a:spcAft>
                <a:spcPts val="700"/>
              </a:spcAft>
              <a:defRPr sz="1900" b="1">
                <a:solidFill>
                  <a:srgbClr val="173A35"/>
                </a:solidFill>
                <a:latin typeface="Noto Sans CJK KR"/>
              </a:defRPr>
            </a:pPr>
            <a:r>
              <a:t>질문</a:t>
            </a:r>
          </a:p>
        </p:txBody>
      </p:sp>
      <p:sp>
        <p:nvSpPr>
          <p:cNvPr id="17" name="Rounded Rectangle 16"/>
          <p:cNvSpPr/>
          <p:nvPr/>
        </p:nvSpPr>
        <p:spPr>
          <a:xfrm>
            <a:off x="9921240" y="2331720"/>
            <a:ext cx="2039112" cy="1673352"/>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25328" y="2606040"/>
            <a:ext cx="594360" cy="594360"/>
          </a:xfrm>
          <a:prstGeom prst="ellipse">
            <a:avLst/>
          </a:prstGeom>
          <a:solidFill>
            <a:srgbClr val="E6D5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22408" y="3346704"/>
            <a:ext cx="1645920" cy="411480"/>
          </a:xfrm>
          <a:prstGeom prst="rect">
            <a:avLst/>
          </a:prstGeom>
          <a:noFill/>
        </p:spPr>
        <p:txBody>
          <a:bodyPr wrap="square" lIns="0" rIns="0" tIns="0" bIns="0">
            <a:spAutoFit/>
          </a:bodyPr>
          <a:lstStyle/>
          <a:p>
            <a:pPr algn="ctr">
              <a:spcAft>
                <a:spcPts val="700"/>
              </a:spcAft>
              <a:defRPr sz="1900" b="1">
                <a:solidFill>
                  <a:srgbClr val="173A35"/>
                </a:solidFill>
                <a:latin typeface="Noto Sans CJK KR"/>
              </a:defRPr>
            </a:pPr>
            <a:r>
              <a:t>문법</a:t>
            </a:r>
          </a:p>
        </p:txBody>
      </p:sp>
      <p:sp>
        <p:nvSpPr>
          <p:cNvPr id="20" name="Rectangle 19"/>
          <p:cNvSpPr/>
          <p:nvPr/>
        </p:nvSpPr>
        <p:spPr>
          <a:xfrm>
            <a:off x="804672" y="4572000"/>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498848"/>
            <a:ext cx="10314432" cy="292608"/>
          </a:xfrm>
          <a:prstGeom prst="rect">
            <a:avLst/>
          </a:prstGeom>
          <a:noFill/>
        </p:spPr>
        <p:txBody>
          <a:bodyPr wrap="square" lIns="0" rIns="0" tIns="0" bIns="0">
            <a:spAutoFit/>
          </a:bodyPr>
          <a:lstStyle/>
          <a:p>
            <a:pPr>
              <a:spcAft>
                <a:spcPts val="700"/>
              </a:spcAft>
              <a:defRPr sz="1700" b="1">
                <a:solidFill>
                  <a:srgbClr val="173A35"/>
                </a:solidFill>
                <a:latin typeface="Noto Sans CJK KR"/>
              </a:defRPr>
            </a:pPr>
            <a:r>
              <a:t>정확한 부분 선택</a:t>
            </a:r>
          </a:p>
        </p:txBody>
      </p:sp>
      <p:sp>
        <p:nvSpPr>
          <p:cNvPr id="22" name="TextBox 21"/>
          <p:cNvSpPr txBox="1"/>
          <p:nvPr/>
        </p:nvSpPr>
        <p:spPr>
          <a:xfrm>
            <a:off x="1005840" y="4855464"/>
            <a:ext cx="10314432" cy="393192"/>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cue 번호 + 시작/끝 문자 위치 + 선택 문자열로 저장해 여러 줄도 추적합니다.</a:t>
            </a:r>
          </a:p>
        </p:txBody>
      </p:sp>
      <p:sp>
        <p:nvSpPr>
          <p:cNvPr id="23" name="Rectangle 22"/>
          <p:cNvSpPr/>
          <p:nvPr/>
        </p:nvSpPr>
        <p:spPr>
          <a:xfrm>
            <a:off x="804672" y="5349240"/>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5276088"/>
            <a:ext cx="10314432" cy="292608"/>
          </a:xfrm>
          <a:prstGeom prst="rect">
            <a:avLst/>
          </a:prstGeom>
          <a:noFill/>
        </p:spPr>
        <p:txBody>
          <a:bodyPr wrap="square" lIns="0" rIns="0" tIns="0" bIns="0">
            <a:spAutoFit/>
          </a:bodyPr>
          <a:lstStyle/>
          <a:p>
            <a:pPr>
              <a:spcAft>
                <a:spcPts val="700"/>
              </a:spcAft>
              <a:defRPr sz="1700" b="1">
                <a:solidFill>
                  <a:srgbClr val="173A35"/>
                </a:solidFill>
                <a:latin typeface="Noto Sans CJK KR"/>
              </a:defRPr>
            </a:pPr>
            <a:r>
              <a:t>수집 품질 관리</a:t>
            </a:r>
          </a:p>
        </p:txBody>
      </p:sp>
      <p:sp>
        <p:nvSpPr>
          <p:cNvPr id="25" name="TextBox 24"/>
          <p:cNvSpPr txBox="1"/>
          <p:nvPr/>
        </p:nvSpPr>
        <p:spPr>
          <a:xfrm>
            <a:off x="1005840" y="5632703"/>
            <a:ext cx="10314432" cy="393192"/>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카테고리와 원본 시각을 함께 저장하며, 중복 입력은 “이미 수집한 문장”으로 알립니다.</a:t>
            </a:r>
          </a:p>
        </p:txBody>
      </p:sp>
      <p:sp>
        <p:nvSpPr>
          <p:cNvPr id="26" name="Rectangle 25"/>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28" name="TextBox 27"/>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11 / 32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03 / 기능 · 수집함·메모</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학습 카드에는 문장뿐 아니라 맥락을 남깁니다.</a:t>
            </a:r>
          </a:p>
        </p:txBody>
      </p:sp>
      <p:pic>
        <p:nvPicPr>
          <p:cNvPr id="5" name="Picture 4" descr="desktop-script.png"/>
          <p:cNvPicPr>
            <a:picLocks noChangeAspect="1"/>
          </p:cNvPicPr>
          <p:nvPr/>
        </p:nvPicPr>
        <p:blipFill>
          <a:blip r:embed="rId3"/>
          <a:stretch>
            <a:fillRect/>
          </a:stretch>
        </p:blipFill>
        <p:spPr>
          <a:xfrm>
            <a:off x="1357884" y="2057400"/>
            <a:ext cx="5925312" cy="4114800"/>
          </a:xfrm>
          <a:prstGeom prst="rect">
            <a:avLst/>
          </a:prstGeom>
        </p:spPr>
      </p:pic>
      <p:sp>
        <p:nvSpPr>
          <p:cNvPr id="6" name="Rectangle 5"/>
          <p:cNvSpPr/>
          <p:nvPr/>
        </p:nvSpPr>
        <p:spPr>
          <a:xfrm>
            <a:off x="8321040" y="2267712"/>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22208" y="2194560"/>
            <a:ext cx="2953512" cy="292608"/>
          </a:xfrm>
          <a:prstGeom prst="rect">
            <a:avLst/>
          </a:prstGeom>
          <a:noFill/>
        </p:spPr>
        <p:txBody>
          <a:bodyPr wrap="square" lIns="0" rIns="0" tIns="0" bIns="0">
            <a:spAutoFit/>
          </a:bodyPr>
          <a:lstStyle/>
          <a:p>
            <a:pPr>
              <a:spcAft>
                <a:spcPts val="700"/>
              </a:spcAft>
              <a:defRPr sz="1500" b="1">
                <a:solidFill>
                  <a:srgbClr val="173A35"/>
                </a:solidFill>
                <a:latin typeface="Noto Sans CJK KR"/>
              </a:defRPr>
            </a:pPr>
            <a:r>
              <a:t>카드 기본 정보</a:t>
            </a:r>
          </a:p>
        </p:txBody>
      </p:sp>
      <p:sp>
        <p:nvSpPr>
          <p:cNvPr id="8" name="TextBox 7"/>
          <p:cNvSpPr txBox="1"/>
          <p:nvPr/>
        </p:nvSpPr>
        <p:spPr>
          <a:xfrm>
            <a:off x="8522208" y="2551176"/>
            <a:ext cx="2953512" cy="475488"/>
          </a:xfrm>
          <a:prstGeom prst="rect">
            <a:avLst/>
          </a:prstGeom>
          <a:noFill/>
        </p:spPr>
        <p:txBody>
          <a:bodyPr wrap="square" lIns="0" rIns="0" tIns="0" bIns="0">
            <a:spAutoFit/>
          </a:bodyPr>
          <a:lstStyle/>
          <a:p>
            <a:pPr>
              <a:spcAft>
                <a:spcPts val="700"/>
              </a:spcAft>
              <a:defRPr sz="1200" b="0">
                <a:solidFill>
                  <a:srgbClr val="58726A"/>
                </a:solidFill>
                <a:latin typeface="Noto Sans CJK KR"/>
              </a:defRPr>
            </a:pPr>
            <a:r>
              <a:t>표현·뜻·문맥 메모·출처</a:t>
            </a:r>
          </a:p>
        </p:txBody>
      </p:sp>
      <p:sp>
        <p:nvSpPr>
          <p:cNvPr id="9" name="Rectangle 8"/>
          <p:cNvSpPr/>
          <p:nvPr/>
        </p:nvSpPr>
        <p:spPr>
          <a:xfrm>
            <a:off x="8321040" y="3127248"/>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22208" y="3054096"/>
            <a:ext cx="2953512" cy="292608"/>
          </a:xfrm>
          <a:prstGeom prst="rect">
            <a:avLst/>
          </a:prstGeom>
          <a:noFill/>
        </p:spPr>
        <p:txBody>
          <a:bodyPr wrap="square" lIns="0" rIns="0" tIns="0" bIns="0">
            <a:spAutoFit/>
          </a:bodyPr>
          <a:lstStyle/>
          <a:p>
            <a:pPr>
              <a:spcAft>
                <a:spcPts val="700"/>
              </a:spcAft>
              <a:defRPr sz="1500" b="1">
                <a:solidFill>
                  <a:srgbClr val="173A35"/>
                </a:solidFill>
                <a:latin typeface="Noto Sans CJK KR"/>
              </a:defRPr>
            </a:pPr>
            <a:r>
              <a:t>맥락 복원</a:t>
            </a:r>
          </a:p>
        </p:txBody>
      </p:sp>
      <p:sp>
        <p:nvSpPr>
          <p:cNvPr id="11" name="TextBox 10"/>
          <p:cNvSpPr txBox="1"/>
          <p:nvPr/>
        </p:nvSpPr>
        <p:spPr>
          <a:xfrm>
            <a:off x="8522208" y="3410712"/>
            <a:ext cx="2953512" cy="475488"/>
          </a:xfrm>
          <a:prstGeom prst="rect">
            <a:avLst/>
          </a:prstGeom>
          <a:noFill/>
        </p:spPr>
        <p:txBody>
          <a:bodyPr wrap="square" lIns="0" rIns="0" tIns="0" bIns="0">
            <a:spAutoFit/>
          </a:bodyPr>
          <a:lstStyle/>
          <a:p>
            <a:pPr>
              <a:spcAft>
                <a:spcPts val="700"/>
              </a:spcAft>
              <a:defRPr sz="1200" b="0">
                <a:solidFill>
                  <a:srgbClr val="58726A"/>
                </a:solidFill>
                <a:latin typeface="Noto Sans CJK KR"/>
              </a:defRPr>
            </a:pPr>
            <a:r>
              <a:t>영상 링크·시작 시간·색상 분류</a:t>
            </a:r>
          </a:p>
        </p:txBody>
      </p:sp>
      <p:sp>
        <p:nvSpPr>
          <p:cNvPr id="12" name="Rectangle 11"/>
          <p:cNvSpPr/>
          <p:nvPr/>
        </p:nvSpPr>
        <p:spPr>
          <a:xfrm>
            <a:off x="8321040" y="3986783"/>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22208" y="3913631"/>
            <a:ext cx="2953512" cy="292608"/>
          </a:xfrm>
          <a:prstGeom prst="rect">
            <a:avLst/>
          </a:prstGeom>
          <a:noFill/>
        </p:spPr>
        <p:txBody>
          <a:bodyPr wrap="square" lIns="0" rIns="0" tIns="0" bIns="0">
            <a:spAutoFit/>
          </a:bodyPr>
          <a:lstStyle/>
          <a:p>
            <a:pPr>
              <a:spcAft>
                <a:spcPts val="700"/>
              </a:spcAft>
              <a:defRPr sz="1500" b="1">
                <a:solidFill>
                  <a:srgbClr val="173A35"/>
                </a:solidFill>
                <a:latin typeface="Noto Sans CJK KR"/>
              </a:defRPr>
            </a:pPr>
            <a:r>
              <a:t>학습 이력</a:t>
            </a:r>
          </a:p>
        </p:txBody>
      </p:sp>
      <p:sp>
        <p:nvSpPr>
          <p:cNvPr id="14" name="TextBox 13"/>
          <p:cNvSpPr txBox="1"/>
          <p:nvPr/>
        </p:nvSpPr>
        <p:spPr>
          <a:xfrm>
            <a:off x="8522208" y="4270247"/>
            <a:ext cx="2953512" cy="475488"/>
          </a:xfrm>
          <a:prstGeom prst="rect">
            <a:avLst/>
          </a:prstGeom>
          <a:noFill/>
        </p:spPr>
        <p:txBody>
          <a:bodyPr wrap="square" lIns="0" rIns="0" tIns="0" bIns="0">
            <a:spAutoFit/>
          </a:bodyPr>
          <a:lstStyle/>
          <a:p>
            <a:pPr>
              <a:spcAft>
                <a:spcPts val="700"/>
              </a:spcAft>
              <a:defRPr sz="1200" b="0">
                <a:solidFill>
                  <a:srgbClr val="58726A"/>
                </a:solidFill>
                <a:latin typeface="Noto Sans CJK KR"/>
              </a:defRPr>
            </a:pPr>
            <a:r>
              <a:t>날짜별 암기 메모·녹음·복습</a:t>
            </a:r>
          </a:p>
        </p:txBody>
      </p:sp>
      <p:sp>
        <p:nvSpPr>
          <p:cNvPr id="15" name="Rectangle 14"/>
          <p:cNvSpPr/>
          <p:nvPr/>
        </p:nvSpPr>
        <p:spPr>
          <a:xfrm>
            <a:off x="8321040" y="4846320"/>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22208" y="4773168"/>
            <a:ext cx="2953512" cy="292608"/>
          </a:xfrm>
          <a:prstGeom prst="rect">
            <a:avLst/>
          </a:prstGeom>
          <a:noFill/>
        </p:spPr>
        <p:txBody>
          <a:bodyPr wrap="square" lIns="0" rIns="0" tIns="0" bIns="0">
            <a:spAutoFit/>
          </a:bodyPr>
          <a:lstStyle/>
          <a:p>
            <a:pPr>
              <a:spcAft>
                <a:spcPts val="700"/>
              </a:spcAft>
              <a:defRPr sz="1500" b="1">
                <a:solidFill>
                  <a:srgbClr val="173A35"/>
                </a:solidFill>
                <a:latin typeface="Noto Sans CJK KR"/>
              </a:defRPr>
            </a:pPr>
            <a:r>
              <a:t>편집·정리</a:t>
            </a:r>
          </a:p>
        </p:txBody>
      </p:sp>
      <p:sp>
        <p:nvSpPr>
          <p:cNvPr id="17" name="TextBox 16"/>
          <p:cNvSpPr txBox="1"/>
          <p:nvPr/>
        </p:nvSpPr>
        <p:spPr>
          <a:xfrm>
            <a:off x="8522208" y="5129783"/>
            <a:ext cx="2953512" cy="475488"/>
          </a:xfrm>
          <a:prstGeom prst="rect">
            <a:avLst/>
          </a:prstGeom>
          <a:noFill/>
        </p:spPr>
        <p:txBody>
          <a:bodyPr wrap="square" lIns="0" rIns="0" tIns="0" bIns="0">
            <a:spAutoFit/>
          </a:bodyPr>
          <a:lstStyle/>
          <a:p>
            <a:pPr>
              <a:spcAft>
                <a:spcPts val="700"/>
              </a:spcAft>
              <a:defRPr sz="1200" b="0">
                <a:solidFill>
                  <a:srgbClr val="58726A"/>
                </a:solidFill>
                <a:latin typeface="Noto Sans CJK KR"/>
              </a:defRPr>
            </a:pPr>
            <a:r>
              <a:t>검색·필터·개별/여러 개 삭제</a:t>
            </a:r>
          </a:p>
        </p:txBody>
      </p:sp>
      <p:sp>
        <p:nvSpPr>
          <p:cNvPr id="18" name="Rectangle 17"/>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20" name="TextBox 19"/>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12 / 32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03 / 기능 · 복습·달력·체크리스트</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세 번의 복습과 암기 상태를 함께 관리합니다.</a:t>
            </a:r>
          </a:p>
        </p:txBody>
      </p:sp>
      <p:sp>
        <p:nvSpPr>
          <p:cNvPr id="5" name="Rounded Rectangle 4"/>
          <p:cNvSpPr/>
          <p:nvPr/>
        </p:nvSpPr>
        <p:spPr>
          <a:xfrm>
            <a:off x="685800" y="2331720"/>
            <a:ext cx="2615184" cy="1353312"/>
          </a:xfrm>
          <a:prstGeom prst="roundRect">
            <a:avLst>
              <a:gd name="adj" fmla="val 14000"/>
            </a:avLst>
          </a:prstGeom>
          <a:solidFill>
            <a:srgbClr val="CFE5D5"/>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2606040"/>
            <a:ext cx="2194560" cy="365760"/>
          </a:xfrm>
          <a:prstGeom prst="rect">
            <a:avLst/>
          </a:prstGeom>
          <a:noFill/>
        </p:spPr>
        <p:txBody>
          <a:bodyPr wrap="square" lIns="0" rIns="0" tIns="0" bIns="0">
            <a:spAutoFit/>
          </a:bodyPr>
          <a:lstStyle/>
          <a:p>
            <a:pPr>
              <a:spcAft>
                <a:spcPts val="700"/>
              </a:spcAft>
              <a:defRPr sz="2100" b="1">
                <a:solidFill>
                  <a:srgbClr val="173A35"/>
                </a:solidFill>
                <a:latin typeface="Noto Sans CJK KR"/>
              </a:defRPr>
            </a:pPr>
            <a:r>
              <a:t>첫 학습</a:t>
            </a:r>
          </a:p>
        </p:txBody>
      </p:sp>
      <p:sp>
        <p:nvSpPr>
          <p:cNvPr id="7" name="TextBox 6"/>
          <p:cNvSpPr txBox="1"/>
          <p:nvPr/>
        </p:nvSpPr>
        <p:spPr>
          <a:xfrm>
            <a:off x="886968" y="3154680"/>
            <a:ext cx="2194560" cy="274320"/>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카드 수집</a:t>
            </a:r>
          </a:p>
        </p:txBody>
      </p:sp>
      <p:sp>
        <p:nvSpPr>
          <p:cNvPr id="8" name="Rounded Rectangle 7"/>
          <p:cNvSpPr/>
          <p:nvPr/>
        </p:nvSpPr>
        <p:spPr>
          <a:xfrm>
            <a:off x="3566160" y="2331720"/>
            <a:ext cx="2615184" cy="1353312"/>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67328" y="2606040"/>
            <a:ext cx="2194560" cy="365760"/>
          </a:xfrm>
          <a:prstGeom prst="rect">
            <a:avLst/>
          </a:prstGeom>
          <a:noFill/>
        </p:spPr>
        <p:txBody>
          <a:bodyPr wrap="square" lIns="0" rIns="0" tIns="0" bIns="0">
            <a:spAutoFit/>
          </a:bodyPr>
          <a:lstStyle/>
          <a:p>
            <a:pPr>
              <a:spcAft>
                <a:spcPts val="700"/>
              </a:spcAft>
              <a:defRPr sz="2100" b="1">
                <a:solidFill>
                  <a:srgbClr val="173A35"/>
                </a:solidFill>
                <a:latin typeface="Noto Sans CJK KR"/>
              </a:defRPr>
            </a:pPr>
            <a:r>
              <a:t>1일 복습</a:t>
            </a:r>
          </a:p>
        </p:txBody>
      </p:sp>
      <p:sp>
        <p:nvSpPr>
          <p:cNvPr id="10" name="TextBox 9"/>
          <p:cNvSpPr txBox="1"/>
          <p:nvPr/>
        </p:nvSpPr>
        <p:spPr>
          <a:xfrm>
            <a:off x="3767328" y="3154680"/>
            <a:ext cx="2194560" cy="274320"/>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빈칸 확인</a:t>
            </a:r>
          </a:p>
        </p:txBody>
      </p:sp>
      <p:sp>
        <p:nvSpPr>
          <p:cNvPr id="11" name="Rounded Rectangle 10"/>
          <p:cNvSpPr/>
          <p:nvPr/>
        </p:nvSpPr>
        <p:spPr>
          <a:xfrm>
            <a:off x="6446520" y="2331720"/>
            <a:ext cx="2615184" cy="1353312"/>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47688" y="2606040"/>
            <a:ext cx="2194560" cy="365760"/>
          </a:xfrm>
          <a:prstGeom prst="rect">
            <a:avLst/>
          </a:prstGeom>
          <a:noFill/>
        </p:spPr>
        <p:txBody>
          <a:bodyPr wrap="square" lIns="0" rIns="0" tIns="0" bIns="0">
            <a:spAutoFit/>
          </a:bodyPr>
          <a:lstStyle/>
          <a:p>
            <a:pPr>
              <a:spcAft>
                <a:spcPts val="700"/>
              </a:spcAft>
              <a:defRPr sz="2100" b="1">
                <a:solidFill>
                  <a:srgbClr val="173A35"/>
                </a:solidFill>
                <a:latin typeface="Noto Sans CJK KR"/>
              </a:defRPr>
            </a:pPr>
            <a:r>
              <a:t>2일 복습</a:t>
            </a:r>
          </a:p>
        </p:txBody>
      </p:sp>
      <p:sp>
        <p:nvSpPr>
          <p:cNvPr id="13" name="TextBox 12"/>
          <p:cNvSpPr txBox="1"/>
          <p:nvPr/>
        </p:nvSpPr>
        <p:spPr>
          <a:xfrm>
            <a:off x="6647688" y="3154680"/>
            <a:ext cx="2194560" cy="274320"/>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다시 발화</a:t>
            </a:r>
          </a:p>
        </p:txBody>
      </p:sp>
      <p:sp>
        <p:nvSpPr>
          <p:cNvPr id="14" name="Rounded Rectangle 13"/>
          <p:cNvSpPr/>
          <p:nvPr/>
        </p:nvSpPr>
        <p:spPr>
          <a:xfrm>
            <a:off x="9326880" y="2331720"/>
            <a:ext cx="2615184" cy="1353312"/>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28048" y="2606040"/>
            <a:ext cx="2194560" cy="365760"/>
          </a:xfrm>
          <a:prstGeom prst="rect">
            <a:avLst/>
          </a:prstGeom>
          <a:noFill/>
        </p:spPr>
        <p:txBody>
          <a:bodyPr wrap="square" lIns="0" rIns="0" tIns="0" bIns="0">
            <a:spAutoFit/>
          </a:bodyPr>
          <a:lstStyle/>
          <a:p>
            <a:pPr>
              <a:spcAft>
                <a:spcPts val="700"/>
              </a:spcAft>
              <a:defRPr sz="2100" b="1">
                <a:solidFill>
                  <a:srgbClr val="173A35"/>
                </a:solidFill>
                <a:latin typeface="Noto Sans CJK KR"/>
              </a:defRPr>
            </a:pPr>
            <a:r>
              <a:t>3일 복습</a:t>
            </a:r>
          </a:p>
        </p:txBody>
      </p:sp>
      <p:sp>
        <p:nvSpPr>
          <p:cNvPr id="16" name="TextBox 15"/>
          <p:cNvSpPr txBox="1"/>
          <p:nvPr/>
        </p:nvSpPr>
        <p:spPr>
          <a:xfrm>
            <a:off x="9528048" y="3154680"/>
            <a:ext cx="2194560" cy="274320"/>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완료 기록</a:t>
            </a:r>
          </a:p>
        </p:txBody>
      </p:sp>
      <p:sp>
        <p:nvSpPr>
          <p:cNvPr id="17" name="Rectangle 16"/>
          <p:cNvSpPr/>
          <p:nvPr/>
        </p:nvSpPr>
        <p:spPr>
          <a:xfrm>
            <a:off x="822960" y="4315968"/>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242816"/>
            <a:ext cx="10222992" cy="292608"/>
          </a:xfrm>
          <a:prstGeom prst="rect">
            <a:avLst/>
          </a:prstGeom>
          <a:noFill/>
        </p:spPr>
        <p:txBody>
          <a:bodyPr wrap="square" lIns="0" rIns="0" tIns="0" bIns="0">
            <a:spAutoFit/>
          </a:bodyPr>
          <a:lstStyle/>
          <a:p>
            <a:pPr>
              <a:spcAft>
                <a:spcPts val="700"/>
              </a:spcAft>
              <a:defRPr sz="1700" b="1">
                <a:solidFill>
                  <a:srgbClr val="173A35"/>
                </a:solidFill>
                <a:latin typeface="Noto Sans CJK KR"/>
              </a:defRPr>
            </a:pPr>
            <a:r>
              <a:t>날짜 중심 복습</a:t>
            </a:r>
          </a:p>
        </p:txBody>
      </p:sp>
      <p:sp>
        <p:nvSpPr>
          <p:cNvPr id="19" name="TextBox 18"/>
          <p:cNvSpPr txBox="1"/>
          <p:nvPr/>
        </p:nvSpPr>
        <p:spPr>
          <a:xfrm>
            <a:off x="1024128" y="4599431"/>
            <a:ext cx="10222992" cy="393192"/>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다음 날짜부터 복습 가능 / 하루에 중복 완료하지 않도록 검증</a:t>
            </a:r>
          </a:p>
        </p:txBody>
      </p:sp>
      <p:sp>
        <p:nvSpPr>
          <p:cNvPr id="20" name="Rectangle 19"/>
          <p:cNvSpPr/>
          <p:nvPr/>
        </p:nvSpPr>
        <p:spPr>
          <a:xfrm>
            <a:off x="822960" y="5093207"/>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5020055"/>
            <a:ext cx="10222992" cy="292608"/>
          </a:xfrm>
          <a:prstGeom prst="rect">
            <a:avLst/>
          </a:prstGeom>
          <a:noFill/>
        </p:spPr>
        <p:txBody>
          <a:bodyPr wrap="square" lIns="0" rIns="0" tIns="0" bIns="0">
            <a:spAutoFit/>
          </a:bodyPr>
          <a:lstStyle/>
          <a:p>
            <a:pPr>
              <a:spcAft>
                <a:spcPts val="700"/>
              </a:spcAft>
              <a:defRPr sz="1700" b="1">
                <a:solidFill>
                  <a:srgbClr val="173A35"/>
                </a:solidFill>
                <a:latin typeface="Noto Sans CJK KR"/>
              </a:defRPr>
            </a:pPr>
            <a:r>
              <a:t>달력과 암기 체크리스트</a:t>
            </a:r>
          </a:p>
        </p:txBody>
      </p:sp>
      <p:sp>
        <p:nvSpPr>
          <p:cNvPr id="22" name="TextBox 21"/>
          <p:cNvSpPr txBox="1"/>
          <p:nvPr/>
        </p:nvSpPr>
        <p:spPr>
          <a:xfrm>
            <a:off x="1024128" y="5376671"/>
            <a:ext cx="10222992" cy="393192"/>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실제 복습·예정·밀린 일정 표시 / 꼭 외울 문장과 암기 완료 상태는 별도 관리</a:t>
            </a:r>
          </a:p>
        </p:txBody>
      </p:sp>
      <p:sp>
        <p:nvSpPr>
          <p:cNvPr id="23" name="Rounded Rectangle 22"/>
          <p:cNvSpPr/>
          <p:nvPr/>
        </p:nvSpPr>
        <p:spPr>
          <a:xfrm>
            <a:off x="621792" y="5833872"/>
            <a:ext cx="10954512" cy="438912"/>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5916168"/>
            <a:ext cx="10561320" cy="2743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“매일 다음 3일 복습”과 “1·3·7일 간격 반복”은 다릅니다. 1·3·7일 알림은 각각 수동 예약합니다.</a:t>
            </a:r>
          </a:p>
        </p:txBody>
      </p:sp>
      <p:sp>
        <p:nvSpPr>
          <p:cNvPr id="25" name="Rectangle 24"/>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27" name="TextBox 26"/>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13 / 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03 / 기능 · 녹음</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녹음 보관함에서 바로 말하고, 아래 목록에서 다시 듣습니다.</a:t>
            </a:r>
          </a:p>
        </p:txBody>
      </p:sp>
      <p:pic>
        <p:nvPicPr>
          <p:cNvPr id="5" name="Picture 4" descr="desktop-recordings.png"/>
          <p:cNvPicPr>
            <a:picLocks noChangeAspect="1"/>
          </p:cNvPicPr>
          <p:nvPr/>
        </p:nvPicPr>
        <p:blipFill>
          <a:blip r:embed="rId3"/>
          <a:stretch>
            <a:fillRect/>
          </a:stretch>
        </p:blipFill>
        <p:spPr>
          <a:xfrm>
            <a:off x="945672" y="2011680"/>
            <a:ext cx="6109655" cy="4242816"/>
          </a:xfrm>
          <a:prstGeom prst="rect">
            <a:avLst/>
          </a:prstGeom>
        </p:spPr>
      </p:pic>
      <p:pic>
        <p:nvPicPr>
          <p:cNvPr id="6" name="Picture 5" descr="mobile-recordings.png"/>
          <p:cNvPicPr>
            <a:picLocks noChangeAspect="1"/>
          </p:cNvPicPr>
          <p:nvPr/>
        </p:nvPicPr>
        <p:blipFill>
          <a:blip r:embed="rId4"/>
          <a:stretch>
            <a:fillRect/>
          </a:stretch>
        </p:blipFill>
        <p:spPr>
          <a:xfrm>
            <a:off x="7589520" y="1940309"/>
            <a:ext cx="1984248" cy="4294116"/>
          </a:xfrm>
          <a:prstGeom prst="rect">
            <a:avLst/>
          </a:prstGeom>
        </p:spPr>
      </p:pic>
      <p:sp>
        <p:nvSpPr>
          <p:cNvPr id="7" name="TextBox 6"/>
          <p:cNvSpPr txBox="1"/>
          <p:nvPr/>
        </p:nvSpPr>
        <p:spPr>
          <a:xfrm>
            <a:off x="9875520" y="2286000"/>
            <a:ext cx="1664208" cy="3200400"/>
          </a:xfrm>
          <a:prstGeom prst="rect">
            <a:avLst/>
          </a:prstGeom>
          <a:noFill/>
        </p:spPr>
        <p:txBody>
          <a:bodyPr wrap="square" lIns="0" rIns="0" tIns="0" bIns="0">
            <a:spAutoFit/>
          </a:bodyPr>
          <a:lstStyle/>
          <a:p>
            <a:pPr>
              <a:spcAft>
                <a:spcPts val="700"/>
              </a:spcAft>
              <a:defRPr sz="1300" b="0">
                <a:solidFill>
                  <a:srgbClr val="58726A"/>
                </a:solidFill>
                <a:latin typeface="Noto Sans CJK KR"/>
              </a:defRPr>
            </a:pPr>
            <a:r>
              <a:t>자유 녹음</a:t>
            </a:r>
          </a:p>
          <a:p>
            <a:pPr>
              <a:spcAft>
                <a:spcPts val="700"/>
              </a:spcAft>
              <a:defRPr sz="1300" b="0">
                <a:solidFill>
                  <a:srgbClr val="58726A"/>
                </a:solidFill>
                <a:latin typeface="Noto Sans CJK KR"/>
              </a:defRPr>
            </a:pPr>
            <a:r>
              <a:t>카드 연결</a:t>
            </a:r>
          </a:p>
          <a:p>
            <a:pPr>
              <a:spcAft>
                <a:spcPts val="700"/>
              </a:spcAft>
              <a:defRPr sz="1300" b="0">
                <a:solidFill>
                  <a:srgbClr val="58726A"/>
                </a:solidFill>
                <a:latin typeface="Noto Sans CJK KR"/>
              </a:defRPr>
            </a:pPr>
            <a:r>
              <a:t>마이크 권한</a:t>
            </a:r>
          </a:p>
          <a:p>
            <a:pPr>
              <a:spcAft>
                <a:spcPts val="700"/>
              </a:spcAft>
              <a:defRPr sz="1300" b="0">
                <a:solidFill>
                  <a:srgbClr val="58726A"/>
                </a:solidFill>
                <a:latin typeface="Noto Sans CJK KR"/>
              </a:defRPr>
            </a:pPr>
            <a:r>
              <a:t>미리듣기</a:t>
            </a:r>
          </a:p>
          <a:p>
            <a:pPr>
              <a:spcAft>
                <a:spcPts val="700"/>
              </a:spcAft>
              <a:defRPr sz="1300" b="0">
                <a:solidFill>
                  <a:srgbClr val="58726A"/>
                </a:solidFill>
                <a:latin typeface="Noto Sans CJK KR"/>
              </a:defRPr>
            </a:pPr>
            <a:r>
              <a:t>명시적 저장</a:t>
            </a:r>
          </a:p>
          <a:p>
            <a:pPr>
              <a:spcAft>
                <a:spcPts val="700"/>
              </a:spcAft>
              <a:defRPr sz="1300" b="0">
                <a:solidFill>
                  <a:srgbClr val="58726A"/>
                </a:solidFill>
                <a:latin typeface="Noto Sans CJK KR"/>
              </a:defRPr>
            </a:pPr>
            <a:r>
              <a:t>다운로드·삭제</a:t>
            </a:r>
          </a:p>
        </p:txBody>
      </p:sp>
      <p:sp>
        <p:nvSpPr>
          <p:cNvPr id="8" name="Rectangle 7"/>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10" name="TextBox 9"/>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14 / 32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03 / 기능 · Google Sheets</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Google Sheets는 문장·메모를 내 계정에 내보내는 경로입니다.</a:t>
            </a:r>
          </a:p>
        </p:txBody>
      </p:sp>
      <p:sp>
        <p:nvSpPr>
          <p:cNvPr id="5" name="Rounded Rectangle 4"/>
          <p:cNvSpPr/>
          <p:nvPr/>
        </p:nvSpPr>
        <p:spPr>
          <a:xfrm>
            <a:off x="640080" y="2240280"/>
            <a:ext cx="2660904" cy="242316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2423160"/>
            <a:ext cx="224028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01</a:t>
            </a:r>
          </a:p>
        </p:txBody>
      </p:sp>
      <p:sp>
        <p:nvSpPr>
          <p:cNvPr id="7" name="TextBox 6"/>
          <p:cNvSpPr txBox="1"/>
          <p:nvPr/>
        </p:nvSpPr>
        <p:spPr>
          <a:xfrm>
            <a:off x="850392" y="2898648"/>
            <a:ext cx="2240280"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Google 계정 연결</a:t>
            </a:r>
          </a:p>
        </p:txBody>
      </p:sp>
      <p:sp>
        <p:nvSpPr>
          <p:cNvPr id="8" name="TextBox 7"/>
          <p:cNvSpPr txBox="1"/>
          <p:nvPr/>
        </p:nvSpPr>
        <p:spPr>
          <a:xfrm>
            <a:off x="850392" y="3657600"/>
            <a:ext cx="2240280" cy="88696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OAuth drive.file 권한</a:t>
            </a:r>
          </a:p>
        </p:txBody>
      </p:sp>
      <p:sp>
        <p:nvSpPr>
          <p:cNvPr id="9" name="Rounded Rectangle 8"/>
          <p:cNvSpPr/>
          <p:nvPr/>
        </p:nvSpPr>
        <p:spPr>
          <a:xfrm>
            <a:off x="3520439" y="2240280"/>
            <a:ext cx="2660904" cy="242316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30752" y="2423160"/>
            <a:ext cx="224028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02</a:t>
            </a:r>
          </a:p>
        </p:txBody>
      </p:sp>
      <p:sp>
        <p:nvSpPr>
          <p:cNvPr id="11" name="TextBox 10"/>
          <p:cNvSpPr txBox="1"/>
          <p:nvPr/>
        </p:nvSpPr>
        <p:spPr>
          <a:xfrm>
            <a:off x="3730752" y="2898648"/>
            <a:ext cx="2240280"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저장 버튼 실행</a:t>
            </a:r>
          </a:p>
        </p:txBody>
      </p:sp>
      <p:sp>
        <p:nvSpPr>
          <p:cNvPr id="12" name="TextBox 11"/>
          <p:cNvSpPr txBox="1"/>
          <p:nvPr/>
        </p:nvSpPr>
        <p:spPr>
          <a:xfrm>
            <a:off x="3730752" y="3657600"/>
            <a:ext cx="2240280" cy="88696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현재 카드 전체 변환</a:t>
            </a:r>
          </a:p>
        </p:txBody>
      </p:sp>
      <p:sp>
        <p:nvSpPr>
          <p:cNvPr id="13" name="Rounded Rectangle 12"/>
          <p:cNvSpPr/>
          <p:nvPr/>
        </p:nvSpPr>
        <p:spPr>
          <a:xfrm>
            <a:off x="6400800" y="2240280"/>
            <a:ext cx="2660904" cy="242316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11112" y="2423160"/>
            <a:ext cx="224028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03</a:t>
            </a:r>
          </a:p>
        </p:txBody>
      </p:sp>
      <p:sp>
        <p:nvSpPr>
          <p:cNvPr id="15" name="TextBox 14"/>
          <p:cNvSpPr txBox="1"/>
          <p:nvPr/>
        </p:nvSpPr>
        <p:spPr>
          <a:xfrm>
            <a:off x="6611112" y="2898648"/>
            <a:ext cx="2240280"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새 스프레드시트</a:t>
            </a:r>
          </a:p>
        </p:txBody>
      </p:sp>
      <p:sp>
        <p:nvSpPr>
          <p:cNvPr id="16" name="TextBox 15"/>
          <p:cNvSpPr txBox="1"/>
          <p:nvPr/>
        </p:nvSpPr>
        <p:spPr>
          <a:xfrm>
            <a:off x="6611112" y="3657600"/>
            <a:ext cx="2240280" cy="88696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16개 열로 기록</a:t>
            </a:r>
          </a:p>
        </p:txBody>
      </p:sp>
      <p:sp>
        <p:nvSpPr>
          <p:cNvPr id="17" name="Rounded Rectangle 16"/>
          <p:cNvSpPr/>
          <p:nvPr/>
        </p:nvSpPr>
        <p:spPr>
          <a:xfrm>
            <a:off x="9281159" y="2240280"/>
            <a:ext cx="2660904" cy="242316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91472" y="2423160"/>
            <a:ext cx="224028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04</a:t>
            </a:r>
          </a:p>
        </p:txBody>
      </p:sp>
      <p:sp>
        <p:nvSpPr>
          <p:cNvPr id="19" name="TextBox 18"/>
          <p:cNvSpPr txBox="1"/>
          <p:nvPr/>
        </p:nvSpPr>
        <p:spPr>
          <a:xfrm>
            <a:off x="9491472" y="2898648"/>
            <a:ext cx="2240280"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생성된 시트 열기</a:t>
            </a:r>
          </a:p>
        </p:txBody>
      </p:sp>
      <p:sp>
        <p:nvSpPr>
          <p:cNvPr id="20" name="TextBox 19"/>
          <p:cNvSpPr txBox="1"/>
          <p:nvPr/>
        </p:nvSpPr>
        <p:spPr>
          <a:xfrm>
            <a:off x="9491472" y="3657600"/>
            <a:ext cx="2240280" cy="88696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표로 확인·편집</a:t>
            </a:r>
          </a:p>
        </p:txBody>
      </p:sp>
      <p:sp>
        <p:nvSpPr>
          <p:cNvPr id="21" name="TextBox 20"/>
          <p:cNvSpPr txBox="1"/>
          <p:nvPr/>
        </p:nvSpPr>
        <p:spPr>
          <a:xfrm>
            <a:off x="777240" y="4983480"/>
            <a:ext cx="10698480" cy="594360"/>
          </a:xfrm>
          <a:prstGeom prst="rect">
            <a:avLst/>
          </a:prstGeom>
          <a:noFill/>
        </p:spPr>
        <p:txBody>
          <a:bodyPr wrap="square" lIns="0" rIns="0" tIns="0" bIns="0">
            <a:spAutoFit/>
          </a:bodyPr>
          <a:lstStyle/>
          <a:p>
            <a:pPr>
              <a:spcAft>
                <a:spcPts val="700"/>
              </a:spcAft>
              <a:defRPr sz="1700" b="1">
                <a:solidFill>
                  <a:srgbClr val="173A35"/>
                </a:solidFill>
                <a:latin typeface="Noto Sans CJK KR"/>
              </a:defRPr>
            </a:pPr>
            <a:r>
              <a:t>표현·뜻·학습 메모·날짜별 메모·영상 정보·복습·암기 상태·분류·색상 포함</a:t>
            </a:r>
          </a:p>
        </p:txBody>
      </p:sp>
      <p:sp>
        <p:nvSpPr>
          <p:cNvPr id="22" name="Rounded Rectangle 21"/>
          <p:cNvSpPr/>
          <p:nvPr/>
        </p:nvSpPr>
        <p:spPr>
          <a:xfrm>
            <a:off x="621792" y="5833872"/>
            <a:ext cx="10954512" cy="438912"/>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5916168"/>
            <a:ext cx="10561320" cy="2743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수동 내보내기 / 저장마다 새 시트 / 녹음 제외 / 시트 수정 내용은 앱으로 역동기화하지 않음</a:t>
            </a:r>
          </a:p>
        </p:txBody>
      </p:sp>
      <p:sp>
        <p:nvSpPr>
          <p:cNvPr id="24" name="Rectangle 23"/>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26" name="TextBox 25"/>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15 / 32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03 / 기능 · 문장 알림</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예약한 문장을 연결된 아이폰의 웹 푸시로 전달합니다.</a:t>
            </a:r>
          </a:p>
        </p:txBody>
      </p:sp>
      <p:sp>
        <p:nvSpPr>
          <p:cNvPr id="5" name="TextBox 4"/>
          <p:cNvSpPr txBox="1"/>
          <p:nvPr/>
        </p:nvSpPr>
        <p:spPr>
          <a:xfrm>
            <a:off x="621792" y="1609344"/>
            <a:ext cx="10972800" cy="457200"/>
          </a:xfrm>
          <a:prstGeom prst="rect">
            <a:avLst/>
          </a:prstGeom>
          <a:noFill/>
        </p:spPr>
        <p:txBody>
          <a:bodyPr wrap="square" lIns="0" rIns="0" tIns="0" bIns="0">
            <a:spAutoFit/>
          </a:bodyPr>
          <a:lstStyle/>
          <a:p>
            <a:pPr>
              <a:spcAft>
                <a:spcPts val="700"/>
              </a:spcAft>
              <a:defRPr sz="1300" b="0">
                <a:solidFill>
                  <a:srgbClr val="58726A"/>
                </a:solidFill>
                <a:latin typeface="Noto Sans CJK KR"/>
              </a:defRPr>
            </a:pPr>
            <a:r>
              <a:t>코드 구현 완료 · 실제 운영에는 Render·기기 설정과 수신 검증 필요</a:t>
            </a:r>
          </a:p>
        </p:txBody>
      </p:sp>
      <p:sp>
        <p:nvSpPr>
          <p:cNvPr id="6" name="Rounded Rectangle 5"/>
          <p:cNvSpPr/>
          <p:nvPr/>
        </p:nvSpPr>
        <p:spPr>
          <a:xfrm>
            <a:off x="640080" y="2240280"/>
            <a:ext cx="3493008" cy="320040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423160"/>
            <a:ext cx="3072384"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PAIR</a:t>
            </a:r>
          </a:p>
        </p:txBody>
      </p:sp>
      <p:sp>
        <p:nvSpPr>
          <p:cNvPr id="8" name="TextBox 7"/>
          <p:cNvSpPr txBox="1"/>
          <p:nvPr/>
        </p:nvSpPr>
        <p:spPr>
          <a:xfrm>
            <a:off x="850392" y="2898648"/>
            <a:ext cx="3072384"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기기 연결 키</a:t>
            </a:r>
          </a:p>
        </p:txBody>
      </p:sp>
      <p:sp>
        <p:nvSpPr>
          <p:cNvPr id="9" name="TextBox 8"/>
          <p:cNvSpPr txBox="1"/>
          <p:nvPr/>
        </p:nvSpPr>
        <p:spPr>
          <a:xfrm>
            <a:off x="850392" y="3657600"/>
            <a:ext cx="3072384" cy="166420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아이폰에서 연결 키 생성</a:t>
            </a:r>
          </a:p>
          <a:p>
            <a:pPr>
              <a:spcAft>
                <a:spcPts val="700"/>
              </a:spcAft>
              <a:defRPr sz="1500" b="0">
                <a:solidFill>
                  <a:srgbClr val="58726A"/>
                </a:solidFill>
                <a:latin typeface="Noto Sans CJK KR"/>
              </a:defRPr>
            </a:pPr>
            <a:r>
              <a:t>알림 구독 등록·테스트</a:t>
            </a:r>
          </a:p>
          <a:p>
            <a:pPr>
              <a:spcAft>
                <a:spcPts val="700"/>
              </a:spcAft>
              <a:defRPr sz="1500" b="0">
                <a:solidFill>
                  <a:srgbClr val="58726A"/>
                </a:solidFill>
                <a:latin typeface="Noto Sans CJK KR"/>
              </a:defRPr>
            </a:pPr>
            <a:r>
              <a:t>PC에 같은 키 입력</a:t>
            </a:r>
          </a:p>
        </p:txBody>
      </p:sp>
      <p:sp>
        <p:nvSpPr>
          <p:cNvPr id="10" name="Rounded Rectangle 9"/>
          <p:cNvSpPr/>
          <p:nvPr/>
        </p:nvSpPr>
        <p:spPr>
          <a:xfrm>
            <a:off x="4352544" y="2240280"/>
            <a:ext cx="3493008" cy="320040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2423160"/>
            <a:ext cx="3072384"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SCHEDULE</a:t>
            </a:r>
          </a:p>
        </p:txBody>
      </p:sp>
      <p:sp>
        <p:nvSpPr>
          <p:cNvPr id="12" name="TextBox 11"/>
          <p:cNvSpPr txBox="1"/>
          <p:nvPr/>
        </p:nvSpPr>
        <p:spPr>
          <a:xfrm>
            <a:off x="4562856" y="2898648"/>
            <a:ext cx="3072384"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한 번씩 날짜·시간 예약</a:t>
            </a:r>
          </a:p>
        </p:txBody>
      </p:sp>
      <p:sp>
        <p:nvSpPr>
          <p:cNvPr id="13" name="TextBox 12"/>
          <p:cNvSpPr txBox="1"/>
          <p:nvPr/>
        </p:nvSpPr>
        <p:spPr>
          <a:xfrm>
            <a:off x="4562856" y="3657600"/>
            <a:ext cx="3072384" cy="166420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카드 문장·뜻·메모 사본</a:t>
            </a:r>
          </a:p>
          <a:p>
            <a:pPr>
              <a:spcAft>
                <a:spcPts val="700"/>
              </a:spcAft>
              <a:defRPr sz="1500" b="0">
                <a:solidFill>
                  <a:srgbClr val="58726A"/>
                </a:solidFill>
                <a:latin typeface="Noto Sans CJK KR"/>
              </a:defRPr>
            </a:pPr>
            <a:r>
              <a:t>UTC 예약 시각 저장</a:t>
            </a:r>
          </a:p>
          <a:p>
            <a:pPr>
              <a:spcAft>
                <a:spcPts val="700"/>
              </a:spcAft>
              <a:defRPr sz="1500" b="0">
                <a:solidFill>
                  <a:srgbClr val="58726A"/>
                </a:solidFill>
                <a:latin typeface="Noto Sans CJK KR"/>
              </a:defRPr>
            </a:pPr>
            <a:r>
              <a:t>목록 확인·예약 취소</a:t>
            </a:r>
          </a:p>
        </p:txBody>
      </p:sp>
      <p:sp>
        <p:nvSpPr>
          <p:cNvPr id="14" name="Rounded Rectangle 13"/>
          <p:cNvSpPr/>
          <p:nvPr/>
        </p:nvSpPr>
        <p:spPr>
          <a:xfrm>
            <a:off x="8065008" y="2240280"/>
            <a:ext cx="3493008" cy="320040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423160"/>
            <a:ext cx="3072384"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DELIVER</a:t>
            </a:r>
          </a:p>
        </p:txBody>
      </p:sp>
      <p:sp>
        <p:nvSpPr>
          <p:cNvPr id="16" name="TextBox 15"/>
          <p:cNvSpPr txBox="1"/>
          <p:nvPr/>
        </p:nvSpPr>
        <p:spPr>
          <a:xfrm>
            <a:off x="8275320" y="2898648"/>
            <a:ext cx="3072384"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알림 → 해당 문장</a:t>
            </a:r>
          </a:p>
        </p:txBody>
      </p:sp>
      <p:sp>
        <p:nvSpPr>
          <p:cNvPr id="17" name="TextBox 16"/>
          <p:cNvSpPr txBox="1"/>
          <p:nvPr/>
        </p:nvSpPr>
        <p:spPr>
          <a:xfrm>
            <a:off x="8275320" y="3657600"/>
            <a:ext cx="3072384" cy="166420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서버가 30초마다 확인</a:t>
            </a:r>
          </a:p>
          <a:p>
            <a:pPr>
              <a:spcAft>
                <a:spcPts val="700"/>
              </a:spcAft>
              <a:defRPr sz="1500" b="0">
                <a:solidFill>
                  <a:srgbClr val="58726A"/>
                </a:solidFill>
                <a:latin typeface="Noto Sans CJK KR"/>
              </a:defRPr>
            </a:pPr>
            <a:r>
              <a:t>VAPID·Web Push 전송</a:t>
            </a:r>
          </a:p>
          <a:p>
            <a:pPr>
              <a:spcAft>
                <a:spcPts val="700"/>
              </a:spcAft>
              <a:defRPr sz="1500" b="0">
                <a:solidFill>
                  <a:srgbClr val="58726A"/>
                </a:solidFill>
                <a:latin typeface="Noto Sans CJK KR"/>
              </a:defRPr>
            </a:pPr>
            <a:r>
              <a:t>누르면 문장 열기·수집함 저장</a:t>
            </a:r>
          </a:p>
        </p:txBody>
      </p:sp>
      <p:sp>
        <p:nvSpPr>
          <p:cNvPr id="18" name="Rounded Rectangle 17"/>
          <p:cNvSpPr/>
          <p:nvPr/>
        </p:nvSpPr>
        <p:spPr>
          <a:xfrm>
            <a:off x="621792" y="5833872"/>
            <a:ext cx="10954512" cy="438912"/>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5916168"/>
            <a:ext cx="10561320" cy="2743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SQLite 영구 Disk + 상시 실행 서버 필요 / 집중 모드·네트워크에 따라 표시·수신이 지연될 수 있음</a:t>
            </a:r>
          </a:p>
        </p:txBody>
      </p:sp>
      <p:sp>
        <p:nvSpPr>
          <p:cNvPr id="20" name="Rectangle 19"/>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22" name="TextBox 21"/>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16 / 32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03 / 설치·온보딩</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아이폰 11: Safari에서 홈 화면에 추가한 뒤 알림을 허용합니다.</a:t>
            </a:r>
          </a:p>
        </p:txBody>
      </p:sp>
      <p:sp>
        <p:nvSpPr>
          <p:cNvPr id="5" name="Rounded Rectangle 4"/>
          <p:cNvSpPr/>
          <p:nvPr/>
        </p:nvSpPr>
        <p:spPr>
          <a:xfrm>
            <a:off x="685800" y="2011680"/>
            <a:ext cx="457200" cy="457200"/>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103120"/>
            <a:ext cx="274320" cy="228600"/>
          </a:xfrm>
          <a:prstGeom prst="rect">
            <a:avLst/>
          </a:prstGeom>
          <a:noFill/>
        </p:spPr>
        <p:txBody>
          <a:bodyPr wrap="square" lIns="0" rIns="0" tIns="0" bIns="0">
            <a:spAutoFit/>
          </a:bodyPr>
          <a:lstStyle/>
          <a:p>
            <a:pPr>
              <a:spcAft>
                <a:spcPts val="700"/>
              </a:spcAft>
              <a:defRPr sz="1100" b="1">
                <a:solidFill>
                  <a:srgbClr val="173A35"/>
                </a:solidFill>
                <a:latin typeface="Noto Sans CJK KR"/>
              </a:defRPr>
            </a:pPr>
            <a:r>
              <a:t>01</a:t>
            </a:r>
          </a:p>
        </p:txBody>
      </p:sp>
      <p:sp>
        <p:nvSpPr>
          <p:cNvPr id="7" name="TextBox 6"/>
          <p:cNvSpPr txBox="1"/>
          <p:nvPr/>
        </p:nvSpPr>
        <p:spPr>
          <a:xfrm>
            <a:off x="1444752" y="2039112"/>
            <a:ext cx="4572000" cy="365760"/>
          </a:xfrm>
          <a:prstGeom prst="rect">
            <a:avLst/>
          </a:prstGeom>
          <a:noFill/>
        </p:spPr>
        <p:txBody>
          <a:bodyPr wrap="square" lIns="0" rIns="0" tIns="0" bIns="0">
            <a:spAutoFit/>
          </a:bodyPr>
          <a:lstStyle/>
          <a:p>
            <a:pPr>
              <a:spcAft>
                <a:spcPts val="700"/>
              </a:spcAft>
              <a:defRPr sz="1900" b="1">
                <a:solidFill>
                  <a:srgbClr val="173A35"/>
                </a:solidFill>
                <a:latin typeface="Noto Sans CJK KR"/>
              </a:defRPr>
            </a:pPr>
            <a:r>
              <a:t>iOS 16.4 이상 확인</a:t>
            </a:r>
          </a:p>
        </p:txBody>
      </p:sp>
      <p:sp>
        <p:nvSpPr>
          <p:cNvPr id="8" name="TextBox 7"/>
          <p:cNvSpPr txBox="1"/>
          <p:nvPr/>
        </p:nvSpPr>
        <p:spPr>
          <a:xfrm>
            <a:off x="6400800" y="2075688"/>
            <a:ext cx="5029200" cy="320040"/>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설정 → 일반 → 정보</a:t>
            </a:r>
          </a:p>
        </p:txBody>
      </p:sp>
      <p:sp>
        <p:nvSpPr>
          <p:cNvPr id="9" name="Rounded Rectangle 8"/>
          <p:cNvSpPr/>
          <p:nvPr/>
        </p:nvSpPr>
        <p:spPr>
          <a:xfrm>
            <a:off x="685800" y="2734056"/>
            <a:ext cx="457200" cy="457200"/>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825496"/>
            <a:ext cx="274320" cy="228600"/>
          </a:xfrm>
          <a:prstGeom prst="rect">
            <a:avLst/>
          </a:prstGeom>
          <a:noFill/>
        </p:spPr>
        <p:txBody>
          <a:bodyPr wrap="square" lIns="0" rIns="0" tIns="0" bIns="0">
            <a:spAutoFit/>
          </a:bodyPr>
          <a:lstStyle/>
          <a:p>
            <a:pPr>
              <a:spcAft>
                <a:spcPts val="700"/>
              </a:spcAft>
              <a:defRPr sz="1100" b="1">
                <a:solidFill>
                  <a:srgbClr val="173A35"/>
                </a:solidFill>
                <a:latin typeface="Noto Sans CJK KR"/>
              </a:defRPr>
            </a:pPr>
            <a:r>
              <a:t>02</a:t>
            </a:r>
          </a:p>
        </p:txBody>
      </p:sp>
      <p:sp>
        <p:nvSpPr>
          <p:cNvPr id="11" name="TextBox 10"/>
          <p:cNvSpPr txBox="1"/>
          <p:nvPr/>
        </p:nvSpPr>
        <p:spPr>
          <a:xfrm>
            <a:off x="1444752" y="2761488"/>
            <a:ext cx="4572000" cy="365760"/>
          </a:xfrm>
          <a:prstGeom prst="rect">
            <a:avLst/>
          </a:prstGeom>
          <a:noFill/>
        </p:spPr>
        <p:txBody>
          <a:bodyPr wrap="square" lIns="0" rIns="0" tIns="0" bIns="0">
            <a:spAutoFit/>
          </a:bodyPr>
          <a:lstStyle/>
          <a:p>
            <a:pPr>
              <a:spcAft>
                <a:spcPts val="700"/>
              </a:spcAft>
              <a:defRPr sz="1900" b="1">
                <a:solidFill>
                  <a:srgbClr val="173A35"/>
                </a:solidFill>
                <a:latin typeface="Noto Sans CJK KR"/>
              </a:defRPr>
            </a:pPr>
            <a:r>
              <a:t>Safari에서 말줍 열기</a:t>
            </a:r>
          </a:p>
        </p:txBody>
      </p:sp>
      <p:sp>
        <p:nvSpPr>
          <p:cNvPr id="12" name="TextBox 11"/>
          <p:cNvSpPr txBox="1"/>
          <p:nvPr/>
        </p:nvSpPr>
        <p:spPr>
          <a:xfrm>
            <a:off x="6400800" y="2798064"/>
            <a:ext cx="5029200" cy="320040"/>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esl-101.onrender.com</a:t>
            </a:r>
          </a:p>
        </p:txBody>
      </p:sp>
      <p:sp>
        <p:nvSpPr>
          <p:cNvPr id="13" name="Rounded Rectangle 12"/>
          <p:cNvSpPr/>
          <p:nvPr/>
        </p:nvSpPr>
        <p:spPr>
          <a:xfrm>
            <a:off x="685800" y="3456432"/>
            <a:ext cx="457200" cy="457200"/>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47872"/>
            <a:ext cx="274320" cy="228600"/>
          </a:xfrm>
          <a:prstGeom prst="rect">
            <a:avLst/>
          </a:prstGeom>
          <a:noFill/>
        </p:spPr>
        <p:txBody>
          <a:bodyPr wrap="square" lIns="0" rIns="0" tIns="0" bIns="0">
            <a:spAutoFit/>
          </a:bodyPr>
          <a:lstStyle/>
          <a:p>
            <a:pPr>
              <a:spcAft>
                <a:spcPts val="700"/>
              </a:spcAft>
              <a:defRPr sz="1100" b="1">
                <a:solidFill>
                  <a:srgbClr val="173A35"/>
                </a:solidFill>
                <a:latin typeface="Noto Sans CJK KR"/>
              </a:defRPr>
            </a:pPr>
            <a:r>
              <a:t>03</a:t>
            </a:r>
          </a:p>
        </p:txBody>
      </p:sp>
      <p:sp>
        <p:nvSpPr>
          <p:cNvPr id="15" name="TextBox 14"/>
          <p:cNvSpPr txBox="1"/>
          <p:nvPr/>
        </p:nvSpPr>
        <p:spPr>
          <a:xfrm>
            <a:off x="1444752" y="3483864"/>
            <a:ext cx="4572000" cy="365760"/>
          </a:xfrm>
          <a:prstGeom prst="rect">
            <a:avLst/>
          </a:prstGeom>
          <a:noFill/>
        </p:spPr>
        <p:txBody>
          <a:bodyPr wrap="square" lIns="0" rIns="0" tIns="0" bIns="0">
            <a:spAutoFit/>
          </a:bodyPr>
          <a:lstStyle/>
          <a:p>
            <a:pPr>
              <a:spcAft>
                <a:spcPts val="700"/>
              </a:spcAft>
              <a:defRPr sz="1900" b="1">
                <a:solidFill>
                  <a:srgbClr val="173A35"/>
                </a:solidFill>
                <a:latin typeface="Noto Sans CJK KR"/>
              </a:defRPr>
            </a:pPr>
            <a:r>
              <a:t>공유 → 홈 화면에 추가</a:t>
            </a:r>
          </a:p>
        </p:txBody>
      </p:sp>
      <p:sp>
        <p:nvSpPr>
          <p:cNvPr id="16" name="TextBox 15"/>
          <p:cNvSpPr txBox="1"/>
          <p:nvPr/>
        </p:nvSpPr>
        <p:spPr>
          <a:xfrm>
            <a:off x="6400800" y="3520440"/>
            <a:ext cx="5029200" cy="320040"/>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말줍 이름으로 추가</a:t>
            </a:r>
          </a:p>
        </p:txBody>
      </p:sp>
      <p:sp>
        <p:nvSpPr>
          <p:cNvPr id="17" name="Rounded Rectangle 16"/>
          <p:cNvSpPr/>
          <p:nvPr/>
        </p:nvSpPr>
        <p:spPr>
          <a:xfrm>
            <a:off x="685800" y="4178808"/>
            <a:ext cx="457200" cy="457200"/>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270248"/>
            <a:ext cx="274320" cy="228600"/>
          </a:xfrm>
          <a:prstGeom prst="rect">
            <a:avLst/>
          </a:prstGeom>
          <a:noFill/>
        </p:spPr>
        <p:txBody>
          <a:bodyPr wrap="square" lIns="0" rIns="0" tIns="0" bIns="0">
            <a:spAutoFit/>
          </a:bodyPr>
          <a:lstStyle/>
          <a:p>
            <a:pPr>
              <a:spcAft>
                <a:spcPts val="700"/>
              </a:spcAft>
              <a:defRPr sz="1100" b="1">
                <a:solidFill>
                  <a:srgbClr val="173A35"/>
                </a:solidFill>
                <a:latin typeface="Noto Sans CJK KR"/>
              </a:defRPr>
            </a:pPr>
            <a:r>
              <a:t>04</a:t>
            </a:r>
          </a:p>
        </p:txBody>
      </p:sp>
      <p:sp>
        <p:nvSpPr>
          <p:cNvPr id="19" name="TextBox 18"/>
          <p:cNvSpPr txBox="1"/>
          <p:nvPr/>
        </p:nvSpPr>
        <p:spPr>
          <a:xfrm>
            <a:off x="1444752" y="4206240"/>
            <a:ext cx="4572000" cy="365760"/>
          </a:xfrm>
          <a:prstGeom prst="rect">
            <a:avLst/>
          </a:prstGeom>
          <a:noFill/>
        </p:spPr>
        <p:txBody>
          <a:bodyPr wrap="square" lIns="0" rIns="0" tIns="0" bIns="0">
            <a:spAutoFit/>
          </a:bodyPr>
          <a:lstStyle/>
          <a:p>
            <a:pPr>
              <a:spcAft>
                <a:spcPts val="700"/>
              </a:spcAft>
              <a:defRPr sz="1900" b="1">
                <a:solidFill>
                  <a:srgbClr val="173A35"/>
                </a:solidFill>
                <a:latin typeface="Noto Sans CJK KR"/>
              </a:defRPr>
            </a:pPr>
            <a:r>
              <a:t>홈 화면 아이콘으로 실행</a:t>
            </a:r>
          </a:p>
        </p:txBody>
      </p:sp>
      <p:sp>
        <p:nvSpPr>
          <p:cNvPr id="20" name="TextBox 19"/>
          <p:cNvSpPr txBox="1"/>
          <p:nvPr/>
        </p:nvSpPr>
        <p:spPr>
          <a:xfrm>
            <a:off x="6400800" y="4242816"/>
            <a:ext cx="5029200" cy="320040"/>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데이터 관리 → 아이폰 문장 알림</a:t>
            </a:r>
          </a:p>
        </p:txBody>
      </p:sp>
      <p:sp>
        <p:nvSpPr>
          <p:cNvPr id="21" name="Rounded Rectangle 20"/>
          <p:cNvSpPr/>
          <p:nvPr/>
        </p:nvSpPr>
        <p:spPr>
          <a:xfrm>
            <a:off x="685800" y="4901184"/>
            <a:ext cx="457200" cy="457200"/>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92624"/>
            <a:ext cx="274320" cy="228600"/>
          </a:xfrm>
          <a:prstGeom prst="rect">
            <a:avLst/>
          </a:prstGeom>
          <a:noFill/>
        </p:spPr>
        <p:txBody>
          <a:bodyPr wrap="square" lIns="0" rIns="0" tIns="0" bIns="0">
            <a:spAutoFit/>
          </a:bodyPr>
          <a:lstStyle/>
          <a:p>
            <a:pPr>
              <a:spcAft>
                <a:spcPts val="700"/>
              </a:spcAft>
              <a:defRPr sz="1100" b="1">
                <a:solidFill>
                  <a:srgbClr val="173A35"/>
                </a:solidFill>
                <a:latin typeface="Noto Sans CJK KR"/>
              </a:defRPr>
            </a:pPr>
            <a:r>
              <a:t>05</a:t>
            </a:r>
          </a:p>
        </p:txBody>
      </p:sp>
      <p:sp>
        <p:nvSpPr>
          <p:cNvPr id="23" name="TextBox 22"/>
          <p:cNvSpPr txBox="1"/>
          <p:nvPr/>
        </p:nvSpPr>
        <p:spPr>
          <a:xfrm>
            <a:off x="1444752" y="4928616"/>
            <a:ext cx="4572000" cy="365760"/>
          </a:xfrm>
          <a:prstGeom prst="rect">
            <a:avLst/>
          </a:prstGeom>
          <a:noFill/>
        </p:spPr>
        <p:txBody>
          <a:bodyPr wrap="square" lIns="0" rIns="0" tIns="0" bIns="0">
            <a:spAutoFit/>
          </a:bodyPr>
          <a:lstStyle/>
          <a:p>
            <a:pPr>
              <a:spcAft>
                <a:spcPts val="700"/>
              </a:spcAft>
              <a:defRPr sz="1900" b="1">
                <a:solidFill>
                  <a:srgbClr val="173A35"/>
                </a:solidFill>
                <a:latin typeface="Noto Sans CJK KR"/>
              </a:defRPr>
            </a:pPr>
            <a:r>
              <a:t>연결 키 생성·알림 허용</a:t>
            </a:r>
          </a:p>
        </p:txBody>
      </p:sp>
      <p:sp>
        <p:nvSpPr>
          <p:cNvPr id="24" name="TextBox 23"/>
          <p:cNvSpPr txBox="1"/>
          <p:nvPr/>
        </p:nvSpPr>
        <p:spPr>
          <a:xfrm>
            <a:off x="6400800" y="4965192"/>
            <a:ext cx="5029200" cy="320040"/>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테스트 알림으로 실제 수신 확인</a:t>
            </a:r>
          </a:p>
        </p:txBody>
      </p:sp>
      <p:sp>
        <p:nvSpPr>
          <p:cNvPr id="25" name="Rectangle 24"/>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27" name="TextBox 26"/>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17 / 32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04 / 디자인 시스템</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부드러운 민트와 명확한 인터랙션으로 통일합니다.</a:t>
            </a:r>
          </a:p>
        </p:txBody>
      </p:sp>
      <p:sp>
        <p:nvSpPr>
          <p:cNvPr id="5" name="Rounded Rectangle 4"/>
          <p:cNvSpPr/>
          <p:nvPr/>
        </p:nvSpPr>
        <p:spPr>
          <a:xfrm>
            <a:off x="658368" y="2240280"/>
            <a:ext cx="2066543" cy="1234440"/>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75887"/>
            <a:ext cx="2103120" cy="347472"/>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Soft Mint</a:t>
            </a:r>
          </a:p>
        </p:txBody>
      </p:sp>
      <p:sp>
        <p:nvSpPr>
          <p:cNvPr id="7" name="TextBox 6"/>
          <p:cNvSpPr txBox="1"/>
          <p:nvPr/>
        </p:nvSpPr>
        <p:spPr>
          <a:xfrm>
            <a:off x="658368" y="4142232"/>
            <a:ext cx="2103120" cy="274320"/>
          </a:xfrm>
          <a:prstGeom prst="rect">
            <a:avLst/>
          </a:prstGeom>
          <a:noFill/>
        </p:spPr>
        <p:txBody>
          <a:bodyPr wrap="square" lIns="0" rIns="0" tIns="0" bIns="0">
            <a:spAutoFit/>
          </a:bodyPr>
          <a:lstStyle/>
          <a:p>
            <a:pPr>
              <a:spcAft>
                <a:spcPts val="700"/>
              </a:spcAft>
              <a:defRPr sz="1300" b="0">
                <a:solidFill>
                  <a:srgbClr val="58726A"/>
                </a:solidFill>
                <a:latin typeface="DejaVu Sans Mono"/>
              </a:defRPr>
            </a:pPr>
            <a:r>
              <a:t>#CFE5D5</a:t>
            </a:r>
          </a:p>
        </p:txBody>
      </p:sp>
      <p:sp>
        <p:nvSpPr>
          <p:cNvPr id="8" name="Rounded Rectangle 7"/>
          <p:cNvSpPr/>
          <p:nvPr/>
        </p:nvSpPr>
        <p:spPr>
          <a:xfrm>
            <a:off x="2944368" y="2240280"/>
            <a:ext cx="2066543" cy="1234440"/>
          </a:xfrm>
          <a:prstGeom prst="roundRect">
            <a:avLst>
              <a:gd name="adj" fmla="val 14000"/>
            </a:avLst>
          </a:prstGeom>
          <a:solidFill>
            <a:srgbClr val="B8D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44368" y="3675887"/>
            <a:ext cx="2103120" cy="347472"/>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Pastel Green</a:t>
            </a:r>
          </a:p>
        </p:txBody>
      </p:sp>
      <p:sp>
        <p:nvSpPr>
          <p:cNvPr id="10" name="TextBox 9"/>
          <p:cNvSpPr txBox="1"/>
          <p:nvPr/>
        </p:nvSpPr>
        <p:spPr>
          <a:xfrm>
            <a:off x="2944368" y="4142232"/>
            <a:ext cx="2103120" cy="274320"/>
          </a:xfrm>
          <a:prstGeom prst="rect">
            <a:avLst/>
          </a:prstGeom>
          <a:noFill/>
        </p:spPr>
        <p:txBody>
          <a:bodyPr wrap="square" lIns="0" rIns="0" tIns="0" bIns="0">
            <a:spAutoFit/>
          </a:bodyPr>
          <a:lstStyle/>
          <a:p>
            <a:pPr>
              <a:spcAft>
                <a:spcPts val="700"/>
              </a:spcAft>
              <a:defRPr sz="1300" b="0">
                <a:solidFill>
                  <a:srgbClr val="58726A"/>
                </a:solidFill>
                <a:latin typeface="DejaVu Sans Mono"/>
              </a:defRPr>
            </a:pPr>
            <a:r>
              <a:t>#B8D6B2</a:t>
            </a:r>
          </a:p>
        </p:txBody>
      </p:sp>
      <p:sp>
        <p:nvSpPr>
          <p:cNvPr id="11" name="Rounded Rectangle 10"/>
          <p:cNvSpPr/>
          <p:nvPr/>
        </p:nvSpPr>
        <p:spPr>
          <a:xfrm>
            <a:off x="5230368" y="2240280"/>
            <a:ext cx="2066543" cy="1234440"/>
          </a:xfrm>
          <a:prstGeom prst="roundRect">
            <a:avLst>
              <a:gd name="adj" fmla="val 14000"/>
            </a:avLst>
          </a:prstGeom>
          <a:solidFill>
            <a:srgbClr val="A6D2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30368" y="3675887"/>
            <a:ext cx="2103120" cy="347472"/>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Aqua Breeze</a:t>
            </a:r>
          </a:p>
        </p:txBody>
      </p:sp>
      <p:sp>
        <p:nvSpPr>
          <p:cNvPr id="13" name="TextBox 12"/>
          <p:cNvSpPr txBox="1"/>
          <p:nvPr/>
        </p:nvSpPr>
        <p:spPr>
          <a:xfrm>
            <a:off x="5230368" y="4142232"/>
            <a:ext cx="2103120" cy="274320"/>
          </a:xfrm>
          <a:prstGeom prst="rect">
            <a:avLst/>
          </a:prstGeom>
          <a:noFill/>
        </p:spPr>
        <p:txBody>
          <a:bodyPr wrap="square" lIns="0" rIns="0" tIns="0" bIns="0">
            <a:spAutoFit/>
          </a:bodyPr>
          <a:lstStyle/>
          <a:p>
            <a:pPr>
              <a:spcAft>
                <a:spcPts val="700"/>
              </a:spcAft>
              <a:defRPr sz="1300" b="0">
                <a:solidFill>
                  <a:srgbClr val="58726A"/>
                </a:solidFill>
                <a:latin typeface="DejaVu Sans Mono"/>
              </a:defRPr>
            </a:pPr>
            <a:r>
              <a:t>#A6D2C8</a:t>
            </a:r>
          </a:p>
        </p:txBody>
      </p:sp>
      <p:sp>
        <p:nvSpPr>
          <p:cNvPr id="14" name="Rounded Rectangle 13"/>
          <p:cNvSpPr/>
          <p:nvPr/>
        </p:nvSpPr>
        <p:spPr>
          <a:xfrm>
            <a:off x="7516368" y="2240280"/>
            <a:ext cx="2066543" cy="1234440"/>
          </a:xfrm>
          <a:prstGeom prst="roundRect">
            <a:avLst>
              <a:gd name="adj" fmla="val 14000"/>
            </a:avLst>
          </a:prstGeom>
          <a:solidFill>
            <a:srgbClr val="8FC6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16368" y="3675887"/>
            <a:ext cx="2103120" cy="347472"/>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Seafoam</a:t>
            </a:r>
          </a:p>
        </p:txBody>
      </p:sp>
      <p:sp>
        <p:nvSpPr>
          <p:cNvPr id="16" name="TextBox 15"/>
          <p:cNvSpPr txBox="1"/>
          <p:nvPr/>
        </p:nvSpPr>
        <p:spPr>
          <a:xfrm>
            <a:off x="7516368" y="4142232"/>
            <a:ext cx="2103120" cy="274320"/>
          </a:xfrm>
          <a:prstGeom prst="rect">
            <a:avLst/>
          </a:prstGeom>
          <a:noFill/>
        </p:spPr>
        <p:txBody>
          <a:bodyPr wrap="square" lIns="0" rIns="0" tIns="0" bIns="0">
            <a:spAutoFit/>
          </a:bodyPr>
          <a:lstStyle/>
          <a:p>
            <a:pPr>
              <a:spcAft>
                <a:spcPts val="700"/>
              </a:spcAft>
              <a:defRPr sz="1300" b="0">
                <a:solidFill>
                  <a:srgbClr val="58726A"/>
                </a:solidFill>
                <a:latin typeface="DejaVu Sans Mono"/>
              </a:defRPr>
            </a:pPr>
            <a:r>
              <a:t>#8FC6B7</a:t>
            </a:r>
          </a:p>
        </p:txBody>
      </p:sp>
      <p:sp>
        <p:nvSpPr>
          <p:cNvPr id="17" name="Rounded Rectangle 16"/>
          <p:cNvSpPr/>
          <p:nvPr/>
        </p:nvSpPr>
        <p:spPr>
          <a:xfrm>
            <a:off x="9802368" y="2240280"/>
            <a:ext cx="2066543" cy="1234440"/>
          </a:xfrm>
          <a:prstGeom prst="roundRect">
            <a:avLst>
              <a:gd name="adj" fmla="val 14000"/>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02368" y="3675887"/>
            <a:ext cx="2103120" cy="347472"/>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Teal Mist</a:t>
            </a:r>
          </a:p>
        </p:txBody>
      </p:sp>
      <p:sp>
        <p:nvSpPr>
          <p:cNvPr id="19" name="TextBox 18"/>
          <p:cNvSpPr txBox="1"/>
          <p:nvPr/>
        </p:nvSpPr>
        <p:spPr>
          <a:xfrm>
            <a:off x="9802368" y="4142232"/>
            <a:ext cx="2103120" cy="274320"/>
          </a:xfrm>
          <a:prstGeom prst="rect">
            <a:avLst/>
          </a:prstGeom>
          <a:noFill/>
        </p:spPr>
        <p:txBody>
          <a:bodyPr wrap="square" lIns="0" rIns="0" tIns="0" bIns="0">
            <a:spAutoFit/>
          </a:bodyPr>
          <a:lstStyle/>
          <a:p>
            <a:pPr>
              <a:spcAft>
                <a:spcPts val="700"/>
              </a:spcAft>
              <a:defRPr sz="1300" b="0">
                <a:solidFill>
                  <a:srgbClr val="58726A"/>
                </a:solidFill>
                <a:latin typeface="DejaVu Sans Mono"/>
              </a:defRPr>
            </a:pPr>
            <a:r>
              <a:t>#6EA89E</a:t>
            </a:r>
          </a:p>
        </p:txBody>
      </p:sp>
      <p:sp>
        <p:nvSpPr>
          <p:cNvPr id="20" name="Rectangle 19"/>
          <p:cNvSpPr/>
          <p:nvPr/>
        </p:nvSpPr>
        <p:spPr>
          <a:xfrm>
            <a:off x="777240" y="4919472"/>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846320"/>
            <a:ext cx="10314432" cy="292608"/>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컴포넌트 원칙</a:t>
            </a:r>
          </a:p>
        </p:txBody>
      </p:sp>
      <p:sp>
        <p:nvSpPr>
          <p:cNvPr id="22" name="TextBox 21"/>
          <p:cNvSpPr txBox="1"/>
          <p:nvPr/>
        </p:nvSpPr>
        <p:spPr>
          <a:xfrm>
            <a:off x="978408" y="5202936"/>
            <a:ext cx="10314432" cy="274320"/>
          </a:xfrm>
          <a:prstGeom prst="rect">
            <a:avLst/>
          </a:prstGeom>
          <a:noFill/>
        </p:spPr>
        <p:txBody>
          <a:bodyPr wrap="square" lIns="0" rIns="0" tIns="0" bIns="0">
            <a:spAutoFit/>
          </a:bodyPr>
          <a:lstStyle/>
          <a:p>
            <a:pPr>
              <a:spcAft>
                <a:spcPts val="700"/>
              </a:spcAft>
              <a:defRPr sz="1300" b="0">
                <a:solidFill>
                  <a:srgbClr val="58726A"/>
                </a:solidFill>
                <a:latin typeface="Noto Sans CJK KR"/>
              </a:defRPr>
            </a:pPr>
            <a:r>
              <a:t>둥근 카드·명료한 버튼 / 모바일 원형 형광펜 / 채워진 마이크 아이콘</a:t>
            </a:r>
          </a:p>
        </p:txBody>
      </p:sp>
      <p:sp>
        <p:nvSpPr>
          <p:cNvPr id="23" name="Rectangle 22"/>
          <p:cNvSpPr/>
          <p:nvPr/>
        </p:nvSpPr>
        <p:spPr>
          <a:xfrm>
            <a:off x="777240" y="5577840"/>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 y="5504688"/>
            <a:ext cx="10314432" cy="292608"/>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내비게이션 원칙</a:t>
            </a:r>
          </a:p>
        </p:txBody>
      </p:sp>
      <p:sp>
        <p:nvSpPr>
          <p:cNvPr id="25" name="TextBox 24"/>
          <p:cNvSpPr txBox="1"/>
          <p:nvPr/>
        </p:nvSpPr>
        <p:spPr>
          <a:xfrm>
            <a:off x="978408" y="5861303"/>
            <a:ext cx="10314432" cy="274320"/>
          </a:xfrm>
          <a:prstGeom prst="rect">
            <a:avLst/>
          </a:prstGeom>
          <a:noFill/>
        </p:spPr>
        <p:txBody>
          <a:bodyPr wrap="square" lIns="0" rIns="0" tIns="0" bIns="0">
            <a:spAutoFit/>
          </a:bodyPr>
          <a:lstStyle/>
          <a:p>
            <a:pPr>
              <a:spcAft>
                <a:spcPts val="700"/>
              </a:spcAft>
              <a:defRPr sz="1300" b="0">
                <a:solidFill>
                  <a:srgbClr val="58726A"/>
                </a:solidFill>
                <a:latin typeface="Noto Sans CJK KR"/>
              </a:defRPr>
            </a:pPr>
            <a:r>
              <a:t>PC 왼쪽 메뉴 유지 / 모바일 하단 아이콘 + 상단 전체 메뉴 / 스크립트 화면에 학습 공간 집중</a:t>
            </a:r>
          </a:p>
        </p:txBody>
      </p:sp>
      <p:sp>
        <p:nvSpPr>
          <p:cNvPr id="26" name="Rectangle 25"/>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28" name="TextBox 27"/>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18 / 32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05 / 시스템 아키텍처</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브라우저 학습 데이터와 서버 연동 기능을 분리합니다.</a:t>
            </a:r>
          </a:p>
        </p:txBody>
      </p:sp>
      <p:sp>
        <p:nvSpPr>
          <p:cNvPr id="5" name="Rounded Rectangle 4"/>
          <p:cNvSpPr/>
          <p:nvPr/>
        </p:nvSpPr>
        <p:spPr>
          <a:xfrm>
            <a:off x="640080" y="2148840"/>
            <a:ext cx="3337560" cy="347472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2331720"/>
            <a:ext cx="2916936"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CLIENT</a:t>
            </a:r>
          </a:p>
        </p:txBody>
      </p:sp>
      <p:sp>
        <p:nvSpPr>
          <p:cNvPr id="7" name="TextBox 6"/>
          <p:cNvSpPr txBox="1"/>
          <p:nvPr/>
        </p:nvSpPr>
        <p:spPr>
          <a:xfrm>
            <a:off x="850392" y="2807208"/>
            <a:ext cx="2916936"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브라우저</a:t>
            </a:r>
          </a:p>
        </p:txBody>
      </p:sp>
      <p:sp>
        <p:nvSpPr>
          <p:cNvPr id="8" name="TextBox 7"/>
          <p:cNvSpPr txBox="1"/>
          <p:nvPr/>
        </p:nvSpPr>
        <p:spPr>
          <a:xfrm>
            <a:off x="850392" y="3566160"/>
            <a:ext cx="2916936" cy="193852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HTML·CSS·ES Modules</a:t>
            </a:r>
          </a:p>
          <a:p>
            <a:pPr>
              <a:spcAft>
                <a:spcPts val="700"/>
              </a:spcAft>
              <a:defRPr sz="1500" b="0">
                <a:solidFill>
                  <a:srgbClr val="58726A"/>
                </a:solidFill>
                <a:latin typeface="Noto Sans CJK KR"/>
              </a:defRPr>
            </a:pPr>
            <a:r>
              <a:t>IndexedDB: 카드·스크립트·녹음</a:t>
            </a:r>
          </a:p>
          <a:p>
            <a:pPr>
              <a:spcAft>
                <a:spcPts val="700"/>
              </a:spcAft>
              <a:defRPr sz="1500" b="0">
                <a:solidFill>
                  <a:srgbClr val="58726A"/>
                </a:solidFill>
                <a:latin typeface="Noto Sans CJK KR"/>
              </a:defRPr>
            </a:pPr>
            <a:r>
              <a:t>Service Worker: 알림 수신</a:t>
            </a:r>
          </a:p>
          <a:p>
            <a:pPr>
              <a:spcAft>
                <a:spcPts val="700"/>
              </a:spcAft>
              <a:defRPr sz="1500" b="0">
                <a:solidFill>
                  <a:srgbClr val="58726A"/>
                </a:solidFill>
                <a:latin typeface="Noto Sans CJK KR"/>
              </a:defRPr>
            </a:pPr>
            <a:r>
              <a:t>localStorage: 공개 설정·연결 키</a:t>
            </a:r>
          </a:p>
        </p:txBody>
      </p:sp>
      <p:sp>
        <p:nvSpPr>
          <p:cNvPr id="9" name="Rounded Rectangle 8"/>
          <p:cNvSpPr/>
          <p:nvPr/>
        </p:nvSpPr>
        <p:spPr>
          <a:xfrm>
            <a:off x="4407408" y="2148840"/>
            <a:ext cx="3337560" cy="347472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331720"/>
            <a:ext cx="2916936"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SERVER</a:t>
            </a:r>
          </a:p>
        </p:txBody>
      </p:sp>
      <p:sp>
        <p:nvSpPr>
          <p:cNvPr id="11" name="TextBox 10"/>
          <p:cNvSpPr txBox="1"/>
          <p:nvPr/>
        </p:nvSpPr>
        <p:spPr>
          <a:xfrm>
            <a:off x="4617720" y="2807208"/>
            <a:ext cx="2916936"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Node.js 24</a:t>
            </a:r>
          </a:p>
        </p:txBody>
      </p:sp>
      <p:sp>
        <p:nvSpPr>
          <p:cNvPr id="12" name="TextBox 11"/>
          <p:cNvSpPr txBox="1"/>
          <p:nvPr/>
        </p:nvSpPr>
        <p:spPr>
          <a:xfrm>
            <a:off x="4617720" y="3566160"/>
            <a:ext cx="2916936" cy="193852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정적 파일·HTTP API</a:t>
            </a:r>
          </a:p>
          <a:p>
            <a:pPr>
              <a:spcAft>
                <a:spcPts val="700"/>
              </a:spcAft>
              <a:defRPr sz="1500" b="0">
                <a:solidFill>
                  <a:srgbClr val="58726A"/>
                </a:solidFill>
                <a:latin typeface="Noto Sans CJK KR"/>
              </a:defRPr>
            </a:pPr>
            <a:r>
              <a:t>자막 제공자 선택·검증</a:t>
            </a:r>
          </a:p>
          <a:p>
            <a:pPr>
              <a:spcAft>
                <a:spcPts val="700"/>
              </a:spcAft>
              <a:defRPr sz="1500" b="0">
                <a:solidFill>
                  <a:srgbClr val="58726A"/>
                </a:solidFill>
                <a:latin typeface="Noto Sans CJK KR"/>
              </a:defRPr>
            </a:pPr>
            <a:r>
              <a:t>Web Push 예약 처리</a:t>
            </a:r>
          </a:p>
          <a:p>
            <a:pPr>
              <a:spcAft>
                <a:spcPts val="700"/>
              </a:spcAft>
              <a:defRPr sz="1500" b="0">
                <a:solidFill>
                  <a:srgbClr val="58726A"/>
                </a:solidFill>
                <a:latin typeface="Noto Sans CJK KR"/>
              </a:defRPr>
            </a:pPr>
            <a:r>
              <a:t>SQLite: 구독·예약</a:t>
            </a:r>
          </a:p>
        </p:txBody>
      </p:sp>
      <p:sp>
        <p:nvSpPr>
          <p:cNvPr id="13" name="Rounded Rectangle 12"/>
          <p:cNvSpPr/>
          <p:nvPr/>
        </p:nvSpPr>
        <p:spPr>
          <a:xfrm>
            <a:off x="8174736" y="2148840"/>
            <a:ext cx="3337560" cy="3474720"/>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8" y="2331720"/>
            <a:ext cx="2916936"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SERVICES</a:t>
            </a:r>
          </a:p>
        </p:txBody>
      </p:sp>
      <p:sp>
        <p:nvSpPr>
          <p:cNvPr id="15" name="TextBox 14"/>
          <p:cNvSpPr txBox="1"/>
          <p:nvPr/>
        </p:nvSpPr>
        <p:spPr>
          <a:xfrm>
            <a:off x="8385048" y="2807208"/>
            <a:ext cx="2916936"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외부 서비스</a:t>
            </a:r>
          </a:p>
        </p:txBody>
      </p:sp>
      <p:sp>
        <p:nvSpPr>
          <p:cNvPr id="16" name="TextBox 15"/>
          <p:cNvSpPr txBox="1"/>
          <p:nvPr/>
        </p:nvSpPr>
        <p:spPr>
          <a:xfrm>
            <a:off x="8385048" y="3566160"/>
            <a:ext cx="2916936" cy="1938528"/>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Supadata / YouTube 자막</a:t>
            </a:r>
          </a:p>
          <a:p>
            <a:pPr>
              <a:spcAft>
                <a:spcPts val="700"/>
              </a:spcAft>
              <a:defRPr sz="1500" b="0">
                <a:solidFill>
                  <a:srgbClr val="58726A"/>
                </a:solidFill>
                <a:latin typeface="Noto Sans CJK KR"/>
              </a:defRPr>
            </a:pPr>
            <a:r>
              <a:t>Google Identity·Sheets</a:t>
            </a:r>
          </a:p>
          <a:p>
            <a:pPr>
              <a:spcAft>
                <a:spcPts val="700"/>
              </a:spcAft>
              <a:defRPr sz="1500" b="0">
                <a:solidFill>
                  <a:srgbClr val="58726A"/>
                </a:solidFill>
                <a:latin typeface="Noto Sans CJK KR"/>
              </a:defRPr>
            </a:pPr>
            <a:r>
              <a:t>APNs 등 웹 푸시 제공자</a:t>
            </a:r>
          </a:p>
          <a:p>
            <a:pPr>
              <a:spcAft>
                <a:spcPts val="700"/>
              </a:spcAft>
              <a:defRPr sz="1500" b="0">
                <a:solidFill>
                  <a:srgbClr val="58726A"/>
                </a:solidFill>
                <a:latin typeface="Noto Sans CJK KR"/>
              </a:defRPr>
            </a:pPr>
            <a:r>
              <a:t>Render Docker·영구 Disk</a:t>
            </a:r>
          </a:p>
        </p:txBody>
      </p:sp>
      <p:sp>
        <p:nvSpPr>
          <p:cNvPr id="17" name="Rounded Rectangle 16"/>
          <p:cNvSpPr/>
          <p:nvPr/>
        </p:nvSpPr>
        <p:spPr>
          <a:xfrm>
            <a:off x="621792" y="5833872"/>
            <a:ext cx="10954512" cy="438912"/>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916168"/>
            <a:ext cx="10561320" cy="2743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Google Sheets 저장은 브라우저 → Google 직접 호출 / 자막 API 키·VAPID 비밀 키는 서버 환경 변수</a:t>
            </a:r>
          </a:p>
        </p:txBody>
      </p:sp>
      <p:sp>
        <p:nvSpPr>
          <p:cNvPr id="19" name="Rectangle 18"/>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21" name="TextBox 20"/>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19 / 32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05 / 데이터 구조</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데이터 모델: 개인 학습 원본은 IndexedDB에 저장합니다.</a:t>
            </a:r>
          </a:p>
        </p:txBody>
      </p:sp>
      <p:sp>
        <p:nvSpPr>
          <p:cNvPr id="5" name="Rectangle 4"/>
          <p:cNvSpPr/>
          <p:nvPr/>
        </p:nvSpPr>
        <p:spPr>
          <a:xfrm>
            <a:off x="621792" y="2057400"/>
            <a:ext cx="2286000"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2148840"/>
            <a:ext cx="2048256"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저장 위치</a:t>
            </a:r>
          </a:p>
        </p:txBody>
      </p:sp>
      <p:sp>
        <p:nvSpPr>
          <p:cNvPr id="7" name="Rectangle 6"/>
          <p:cNvSpPr/>
          <p:nvPr/>
        </p:nvSpPr>
        <p:spPr>
          <a:xfrm>
            <a:off x="2907792" y="2057400"/>
            <a:ext cx="2057400"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26664" y="2148840"/>
            <a:ext cx="1819656"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엔터티</a:t>
            </a:r>
          </a:p>
        </p:txBody>
      </p:sp>
      <p:sp>
        <p:nvSpPr>
          <p:cNvPr id="9" name="Rectangle 8"/>
          <p:cNvSpPr/>
          <p:nvPr/>
        </p:nvSpPr>
        <p:spPr>
          <a:xfrm>
            <a:off x="4965192" y="2057400"/>
            <a:ext cx="6611112"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84064" y="2148840"/>
            <a:ext cx="6373368"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대표 필드</a:t>
            </a:r>
          </a:p>
        </p:txBody>
      </p:sp>
      <p:sp>
        <p:nvSpPr>
          <p:cNvPr id="11" name="Rectangle 10"/>
          <p:cNvSpPr/>
          <p:nvPr/>
        </p:nvSpPr>
        <p:spPr>
          <a:xfrm>
            <a:off x="621792" y="2532888"/>
            <a:ext cx="2286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2642616"/>
            <a:ext cx="20482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IndexedDB / cards</a:t>
            </a:r>
          </a:p>
        </p:txBody>
      </p:sp>
      <p:sp>
        <p:nvSpPr>
          <p:cNvPr id="13" name="Rectangle 12"/>
          <p:cNvSpPr/>
          <p:nvPr/>
        </p:nvSpPr>
        <p:spPr>
          <a:xfrm>
            <a:off x="2907792" y="2532888"/>
            <a:ext cx="20574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26664" y="2642616"/>
            <a:ext cx="18196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표현 카드</a:t>
            </a:r>
          </a:p>
        </p:txBody>
      </p:sp>
      <p:sp>
        <p:nvSpPr>
          <p:cNvPr id="15" name="Rectangle 14"/>
          <p:cNvSpPr/>
          <p:nvPr/>
        </p:nvSpPr>
        <p:spPr>
          <a:xfrm>
            <a:off x="4965192" y="2532888"/>
            <a:ext cx="661111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84064" y="2642616"/>
            <a:ext cx="637336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id, text, meaning, note, url, start, category, reviews, next</a:t>
            </a:r>
          </a:p>
        </p:txBody>
      </p:sp>
      <p:sp>
        <p:nvSpPr>
          <p:cNvPr id="17" name="Rectangle 16"/>
          <p:cNvSpPr/>
          <p:nvPr/>
        </p:nvSpPr>
        <p:spPr>
          <a:xfrm>
            <a:off x="621792" y="3172968"/>
            <a:ext cx="2286000"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3282696"/>
            <a:ext cx="20482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IndexedDB / recordings</a:t>
            </a:r>
          </a:p>
        </p:txBody>
      </p:sp>
      <p:sp>
        <p:nvSpPr>
          <p:cNvPr id="19" name="Rectangle 18"/>
          <p:cNvSpPr/>
          <p:nvPr/>
        </p:nvSpPr>
        <p:spPr>
          <a:xfrm>
            <a:off x="2907792" y="3172968"/>
            <a:ext cx="2057400"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6664" y="3282696"/>
            <a:ext cx="18196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오디오 파일</a:t>
            </a:r>
          </a:p>
        </p:txBody>
      </p:sp>
      <p:sp>
        <p:nvSpPr>
          <p:cNvPr id="21" name="Rectangle 20"/>
          <p:cNvSpPr/>
          <p:nvPr/>
        </p:nvSpPr>
        <p:spPr>
          <a:xfrm>
            <a:off x="4965192" y="3172968"/>
            <a:ext cx="6611112"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84064" y="3282696"/>
            <a:ext cx="637336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id, cardId, title, blob, created</a:t>
            </a:r>
          </a:p>
        </p:txBody>
      </p:sp>
      <p:sp>
        <p:nvSpPr>
          <p:cNvPr id="23" name="Rectangle 22"/>
          <p:cNvSpPr/>
          <p:nvPr/>
        </p:nvSpPr>
        <p:spPr>
          <a:xfrm>
            <a:off x="621792" y="3813048"/>
            <a:ext cx="2286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 y="3922776"/>
            <a:ext cx="20482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IndexedDB / scripts</a:t>
            </a:r>
          </a:p>
        </p:txBody>
      </p:sp>
      <p:sp>
        <p:nvSpPr>
          <p:cNvPr id="25" name="Rectangle 24"/>
          <p:cNvSpPr/>
          <p:nvPr/>
        </p:nvSpPr>
        <p:spPr>
          <a:xfrm>
            <a:off x="2907792" y="3813048"/>
            <a:ext cx="20574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26664" y="3922776"/>
            <a:ext cx="18196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자막·형광펜</a:t>
            </a:r>
          </a:p>
        </p:txBody>
      </p:sp>
      <p:sp>
        <p:nvSpPr>
          <p:cNvPr id="27" name="Rectangle 26"/>
          <p:cNvSpPr/>
          <p:nvPr/>
        </p:nvSpPr>
        <p:spPr>
          <a:xfrm>
            <a:off x="4965192" y="3813048"/>
            <a:ext cx="661111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84064" y="3922776"/>
            <a:ext cx="637336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id, data.cues, highlights, updated / palette</a:t>
            </a:r>
          </a:p>
        </p:txBody>
      </p:sp>
      <p:sp>
        <p:nvSpPr>
          <p:cNvPr id="29" name="Rectangle 28"/>
          <p:cNvSpPr/>
          <p:nvPr/>
        </p:nvSpPr>
        <p:spPr>
          <a:xfrm>
            <a:off x="621792" y="4453127"/>
            <a:ext cx="2286000"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 y="4562855"/>
            <a:ext cx="20482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SQLite / subscriptions</a:t>
            </a:r>
          </a:p>
        </p:txBody>
      </p:sp>
      <p:sp>
        <p:nvSpPr>
          <p:cNvPr id="31" name="Rectangle 30"/>
          <p:cNvSpPr/>
          <p:nvPr/>
        </p:nvSpPr>
        <p:spPr>
          <a:xfrm>
            <a:off x="2907792" y="4453127"/>
            <a:ext cx="2057400"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26664" y="4562855"/>
            <a:ext cx="18196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푸시 구독</a:t>
            </a:r>
          </a:p>
        </p:txBody>
      </p:sp>
      <p:sp>
        <p:nvSpPr>
          <p:cNvPr id="33" name="Rectangle 32"/>
          <p:cNvSpPr/>
          <p:nvPr/>
        </p:nvSpPr>
        <p:spPr>
          <a:xfrm>
            <a:off x="4965192" y="4453127"/>
            <a:ext cx="6611112"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84064" y="4562855"/>
            <a:ext cx="637336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endpoint, owner(키 해시), data, created</a:t>
            </a:r>
          </a:p>
        </p:txBody>
      </p:sp>
      <p:sp>
        <p:nvSpPr>
          <p:cNvPr id="35" name="Rectangle 34"/>
          <p:cNvSpPr/>
          <p:nvPr/>
        </p:nvSpPr>
        <p:spPr>
          <a:xfrm>
            <a:off x="621792" y="5093208"/>
            <a:ext cx="2286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664" y="5202936"/>
            <a:ext cx="20482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SQLite / reminders</a:t>
            </a:r>
          </a:p>
        </p:txBody>
      </p:sp>
      <p:sp>
        <p:nvSpPr>
          <p:cNvPr id="37" name="Rectangle 36"/>
          <p:cNvSpPr/>
          <p:nvPr/>
        </p:nvSpPr>
        <p:spPr>
          <a:xfrm>
            <a:off x="2907792" y="5093208"/>
            <a:ext cx="20574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26664" y="5202936"/>
            <a:ext cx="18196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예약 알림</a:t>
            </a:r>
          </a:p>
        </p:txBody>
      </p:sp>
      <p:sp>
        <p:nvSpPr>
          <p:cNvPr id="39" name="Rectangle 38"/>
          <p:cNvSpPr/>
          <p:nvPr/>
        </p:nvSpPr>
        <p:spPr>
          <a:xfrm>
            <a:off x="4965192" y="5093208"/>
            <a:ext cx="661111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84064" y="5202936"/>
            <a:ext cx="637336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id, owner, card, due, status, attempts, updated</a:t>
            </a:r>
          </a:p>
        </p:txBody>
      </p:sp>
      <p:sp>
        <p:nvSpPr>
          <p:cNvPr id="41" name="Rounded Rectangle 40"/>
          <p:cNvSpPr/>
          <p:nvPr/>
        </p:nvSpPr>
        <p:spPr>
          <a:xfrm>
            <a:off x="621792" y="5833872"/>
            <a:ext cx="10954512" cy="438912"/>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916168"/>
            <a:ext cx="10561320" cy="2743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IndexedDB 버전 2 / 구버전 자료 유지 / 전체 JSON 백업은 카드·복습·녹음·스크립트·형광펜 포함</a:t>
            </a:r>
          </a:p>
        </p:txBody>
      </p:sp>
      <p:sp>
        <p:nvSpPr>
          <p:cNvPr id="43" name="Rectangle 42"/>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45" name="TextBox 44"/>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20 / 32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05 / 제작 방식</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제작 방법: 작은 모듈을 연결하고 실제 동작을 검증합니다.</a:t>
            </a:r>
          </a:p>
        </p:txBody>
      </p:sp>
      <p:sp>
        <p:nvSpPr>
          <p:cNvPr id="5" name="Rectangle 4"/>
          <p:cNvSpPr/>
          <p:nvPr/>
        </p:nvSpPr>
        <p:spPr>
          <a:xfrm>
            <a:off x="621792" y="2057400"/>
            <a:ext cx="1554480"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2148840"/>
            <a:ext cx="1316736"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단계</a:t>
            </a:r>
          </a:p>
        </p:txBody>
      </p:sp>
      <p:sp>
        <p:nvSpPr>
          <p:cNvPr id="7" name="Rectangle 6"/>
          <p:cNvSpPr/>
          <p:nvPr/>
        </p:nvSpPr>
        <p:spPr>
          <a:xfrm>
            <a:off x="2176272" y="2057400"/>
            <a:ext cx="5760720"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95144" y="2148840"/>
            <a:ext cx="5522976"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제작 방법</a:t>
            </a:r>
          </a:p>
        </p:txBody>
      </p:sp>
      <p:sp>
        <p:nvSpPr>
          <p:cNvPr id="9" name="Rectangle 8"/>
          <p:cNvSpPr/>
          <p:nvPr/>
        </p:nvSpPr>
        <p:spPr>
          <a:xfrm>
            <a:off x="7936992" y="2057400"/>
            <a:ext cx="3639312"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55864" y="2148840"/>
            <a:ext cx="3401568"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산출물</a:t>
            </a:r>
          </a:p>
        </p:txBody>
      </p:sp>
      <p:sp>
        <p:nvSpPr>
          <p:cNvPr id="11" name="Rectangle 10"/>
          <p:cNvSpPr/>
          <p:nvPr/>
        </p:nvSpPr>
        <p:spPr>
          <a:xfrm>
            <a:off x="621792" y="2532888"/>
            <a:ext cx="155448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2642616"/>
            <a:ext cx="131673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구조 설계</a:t>
            </a:r>
          </a:p>
        </p:txBody>
      </p:sp>
      <p:sp>
        <p:nvSpPr>
          <p:cNvPr id="13" name="Rectangle 12"/>
          <p:cNvSpPr/>
          <p:nvPr/>
        </p:nvSpPr>
        <p:spPr>
          <a:xfrm>
            <a:off x="2176272" y="2532888"/>
            <a:ext cx="576072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95144" y="2642616"/>
            <a:ext cx="552297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화면 흐름·저장 구조·접근 권한 구분</a:t>
            </a:r>
          </a:p>
        </p:txBody>
      </p:sp>
      <p:sp>
        <p:nvSpPr>
          <p:cNvPr id="15" name="Rectangle 14"/>
          <p:cNvSpPr/>
          <p:nvPr/>
        </p:nvSpPr>
        <p:spPr>
          <a:xfrm>
            <a:off x="7936992" y="2532888"/>
            <a:ext cx="363931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2642616"/>
            <a:ext cx="340156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사이트맵 / 데이터 모델</a:t>
            </a:r>
          </a:p>
        </p:txBody>
      </p:sp>
      <p:sp>
        <p:nvSpPr>
          <p:cNvPr id="17" name="Rectangle 16"/>
          <p:cNvSpPr/>
          <p:nvPr/>
        </p:nvSpPr>
        <p:spPr>
          <a:xfrm>
            <a:off x="621792" y="3172968"/>
            <a:ext cx="1554480"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3282696"/>
            <a:ext cx="131673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기능 개발</a:t>
            </a:r>
          </a:p>
        </p:txBody>
      </p:sp>
      <p:sp>
        <p:nvSpPr>
          <p:cNvPr id="19" name="Rectangle 18"/>
          <p:cNvSpPr/>
          <p:nvPr/>
        </p:nvSpPr>
        <p:spPr>
          <a:xfrm>
            <a:off x="2176272" y="3172968"/>
            <a:ext cx="5760720"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95144" y="3282696"/>
            <a:ext cx="552297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Vanilla JS UI + Node HTTP API + Python 추출기</a:t>
            </a:r>
          </a:p>
        </p:txBody>
      </p:sp>
      <p:sp>
        <p:nvSpPr>
          <p:cNvPr id="21" name="Rectangle 20"/>
          <p:cNvSpPr/>
          <p:nvPr/>
        </p:nvSpPr>
        <p:spPr>
          <a:xfrm>
            <a:off x="7936992" y="3172968"/>
            <a:ext cx="3639312"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55864" y="3282696"/>
            <a:ext cx="340156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src/ · server.mjs · scripts/</a:t>
            </a:r>
          </a:p>
        </p:txBody>
      </p:sp>
      <p:sp>
        <p:nvSpPr>
          <p:cNvPr id="23" name="Rectangle 22"/>
          <p:cNvSpPr/>
          <p:nvPr/>
        </p:nvSpPr>
        <p:spPr>
          <a:xfrm>
            <a:off x="621792" y="3813048"/>
            <a:ext cx="155448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 y="3922776"/>
            <a:ext cx="131673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품질 확인</a:t>
            </a:r>
          </a:p>
        </p:txBody>
      </p:sp>
      <p:sp>
        <p:nvSpPr>
          <p:cNvPr id="25" name="Rectangle 24"/>
          <p:cNvSpPr/>
          <p:nvPr/>
        </p:nvSpPr>
        <p:spPr>
          <a:xfrm>
            <a:off x="2176272" y="3813048"/>
            <a:ext cx="576072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95144" y="3922776"/>
            <a:ext cx="552297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순수 로직·HTTP·영구 저장·브라우저 회귀 검사</a:t>
            </a:r>
          </a:p>
        </p:txBody>
      </p:sp>
      <p:sp>
        <p:nvSpPr>
          <p:cNvPr id="27" name="Rectangle 26"/>
          <p:cNvSpPr/>
          <p:nvPr/>
        </p:nvSpPr>
        <p:spPr>
          <a:xfrm>
            <a:off x="7936992" y="3813048"/>
            <a:ext cx="363931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55864" y="3922776"/>
            <a:ext cx="340156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Node / Python / Chromium 테스트</a:t>
            </a:r>
          </a:p>
        </p:txBody>
      </p:sp>
      <p:sp>
        <p:nvSpPr>
          <p:cNvPr id="29" name="Rectangle 28"/>
          <p:cNvSpPr/>
          <p:nvPr/>
        </p:nvSpPr>
        <p:spPr>
          <a:xfrm>
            <a:off x="621792" y="4453127"/>
            <a:ext cx="1554480"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 y="4562855"/>
            <a:ext cx="131673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배포</a:t>
            </a:r>
          </a:p>
        </p:txBody>
      </p:sp>
      <p:sp>
        <p:nvSpPr>
          <p:cNvPr id="31" name="Rectangle 30"/>
          <p:cNvSpPr/>
          <p:nvPr/>
        </p:nvSpPr>
        <p:spPr>
          <a:xfrm>
            <a:off x="2176272" y="4453127"/>
            <a:ext cx="5760720"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95144" y="4562855"/>
            <a:ext cx="552297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잠금 파일 기반 설치·Docker·비관리자 실행</a:t>
            </a:r>
          </a:p>
        </p:txBody>
      </p:sp>
      <p:sp>
        <p:nvSpPr>
          <p:cNvPr id="33" name="Rectangle 32"/>
          <p:cNvSpPr/>
          <p:nvPr/>
        </p:nvSpPr>
        <p:spPr>
          <a:xfrm>
            <a:off x="7936992" y="4453127"/>
            <a:ext cx="3639312"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55864" y="4562855"/>
            <a:ext cx="340156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Dockerfile / Render 안내</a:t>
            </a:r>
          </a:p>
        </p:txBody>
      </p:sp>
      <p:sp>
        <p:nvSpPr>
          <p:cNvPr id="35" name="Rectangle 34"/>
          <p:cNvSpPr/>
          <p:nvPr/>
        </p:nvSpPr>
        <p:spPr>
          <a:xfrm>
            <a:off x="621792" y="5093208"/>
            <a:ext cx="155448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664" y="5202936"/>
            <a:ext cx="131673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운영 문서화</a:t>
            </a:r>
          </a:p>
        </p:txBody>
      </p:sp>
      <p:sp>
        <p:nvSpPr>
          <p:cNvPr id="37" name="Rectangle 36"/>
          <p:cNvSpPr/>
          <p:nvPr/>
        </p:nvSpPr>
        <p:spPr>
          <a:xfrm>
            <a:off x="2176272" y="5093208"/>
            <a:ext cx="576072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295144" y="5202936"/>
            <a:ext cx="552297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키 설정·아이폰 설치·한계와 복구 경로 기록</a:t>
            </a:r>
          </a:p>
        </p:txBody>
      </p:sp>
      <p:sp>
        <p:nvSpPr>
          <p:cNvPr id="39" name="Rectangle 38"/>
          <p:cNvSpPr/>
          <p:nvPr/>
        </p:nvSpPr>
        <p:spPr>
          <a:xfrm>
            <a:off x="7936992" y="5093208"/>
            <a:ext cx="363931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55864" y="5202936"/>
            <a:ext cx="340156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README / 배포·푸시 설정 문서</a:t>
            </a:r>
          </a:p>
        </p:txBody>
      </p:sp>
      <p:sp>
        <p:nvSpPr>
          <p:cNvPr id="41" name="Rectangle 40"/>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43" name="TextBox 42"/>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21 / 32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06 / 핵심 구현</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핵심 코드 01 — 자막 입력 검증과 제공자 선택</a:t>
            </a:r>
          </a:p>
        </p:txBody>
      </p:sp>
      <p:sp>
        <p:nvSpPr>
          <p:cNvPr id="5" name="Rounded Rectangle 4"/>
          <p:cNvSpPr/>
          <p:nvPr/>
        </p:nvSpPr>
        <p:spPr>
          <a:xfrm>
            <a:off x="621792" y="2066543"/>
            <a:ext cx="7132320" cy="3639312"/>
          </a:xfrm>
          <a:prstGeom prst="roundRect">
            <a:avLst>
              <a:gd name="adj" fmla="val 14000"/>
            </a:avLst>
          </a:prstGeom>
          <a:solidFill>
            <a:srgbClr val="153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2267712"/>
            <a:ext cx="6629400" cy="274320"/>
          </a:xfrm>
          <a:prstGeom prst="rect">
            <a:avLst/>
          </a:prstGeom>
          <a:noFill/>
        </p:spPr>
        <p:txBody>
          <a:bodyPr wrap="square" lIns="0" rIns="0" tIns="0" bIns="0">
            <a:spAutoFit/>
          </a:bodyPr>
          <a:lstStyle/>
          <a:p>
            <a:pPr>
              <a:spcAft>
                <a:spcPts val="700"/>
              </a:spcAft>
              <a:defRPr sz="1200" b="1">
                <a:solidFill>
                  <a:srgbClr val="A6D2C8"/>
                </a:solidFill>
                <a:latin typeface="DejaVu Sans Mono"/>
              </a:defRPr>
            </a:pPr>
            <a:r>
              <a:t>youtube-transcript.mjs</a:t>
            </a:r>
          </a:p>
        </p:txBody>
      </p:sp>
      <p:sp>
        <p:nvSpPr>
          <p:cNvPr id="7" name="TextBox 6"/>
          <p:cNvSpPr txBox="1"/>
          <p:nvPr/>
        </p:nvSpPr>
        <p:spPr>
          <a:xfrm>
            <a:off x="877824" y="2761488"/>
            <a:ext cx="6629400" cy="2788920"/>
          </a:xfrm>
          <a:prstGeom prst="rect">
            <a:avLst/>
          </a:prstGeom>
          <a:noFill/>
        </p:spPr>
        <p:txBody>
          <a:bodyPr wrap="square" lIns="0" rIns="0" tIns="0" bIns="0">
            <a:spAutoFit/>
          </a:bodyPr>
          <a:lstStyle/>
          <a:p>
            <a:pPr>
              <a:spcAft>
                <a:spcPts val="700"/>
              </a:spcAft>
              <a:defRPr sz="1200" b="0">
                <a:solidFill>
                  <a:srgbClr val="FFFFFF"/>
                </a:solidFill>
                <a:latin typeface="DejaVu Sans Mono"/>
              </a:defRPr>
            </a:pPr>
            <a:r>
              <a:t>const input = transcriptInput(value, language);</a:t>
            </a:r>
          </a:p>
          <a:p>
            <a:pPr>
              <a:spcAft>
                <a:spcPts val="700"/>
              </a:spcAft>
              <a:defRPr sz="1200" b="0">
                <a:solidFill>
                  <a:srgbClr val="FFFFFF"/>
                </a:solidFill>
                <a:latin typeface="DejaVu Sans Mono"/>
              </a:defRPr>
            </a:pPr>
            <a:r>
              <a:t>const provider = process.env.TRANSCRIPT_PROVIDER</a:t>
            </a:r>
          </a:p>
          <a:p>
            <a:pPr>
              <a:spcAft>
                <a:spcPts val="700"/>
              </a:spcAft>
              <a:defRPr sz="1200" b="0">
                <a:solidFill>
                  <a:srgbClr val="FFFFFF"/>
                </a:solidFill>
                <a:latin typeface="DejaVu Sans Mono"/>
              </a:defRPr>
            </a:pPr>
            <a:r>
              <a:t>  || (process.env.SUPADATA_API_KEY?.trim()</a:t>
            </a:r>
          </a:p>
          <a:p>
            <a:pPr>
              <a:spcAft>
                <a:spcPts val="700"/>
              </a:spcAft>
              <a:defRPr sz="1200" b="0">
                <a:solidFill>
                  <a:srgbClr val="FFFFFF"/>
                </a:solidFill>
                <a:latin typeface="DejaVu Sans Mono"/>
              </a:defRPr>
            </a:pPr>
            <a:r>
              <a:t>      ? 'supadata' : 'local');</a:t>
            </a:r>
          </a:p>
          <a:p>
            <a:pPr>
              <a:spcAft>
                <a:spcPts val="700"/>
              </a:spcAft>
              <a:defRPr sz="1200" b="0">
                <a:solidFill>
                  <a:srgbClr val="FFFFFF"/>
                </a:solidFill>
                <a:latin typeface="DejaVu Sans Mono"/>
              </a:defRPr>
            </a:pPr>
            <a:r>
              <a:t>if (provider === 'supadata')</a:t>
            </a:r>
          </a:p>
          <a:p>
            <a:pPr>
              <a:spcAft>
                <a:spcPts val="700"/>
              </a:spcAft>
              <a:defRPr sz="1200" b="0">
                <a:solidFill>
                  <a:srgbClr val="FFFFFF"/>
                </a:solidFill>
                <a:latin typeface="DejaVu Sans Mono"/>
              </a:defRPr>
            </a:pPr>
            <a:r>
              <a:t>  return supadata(input);</a:t>
            </a:r>
          </a:p>
        </p:txBody>
      </p:sp>
      <p:sp>
        <p:nvSpPr>
          <p:cNvPr id="8" name="TextBox 7"/>
          <p:cNvSpPr txBox="1"/>
          <p:nvPr/>
        </p:nvSpPr>
        <p:spPr>
          <a:xfrm>
            <a:off x="8092440" y="2194560"/>
            <a:ext cx="3383280" cy="502920"/>
          </a:xfrm>
          <a:prstGeom prst="rect">
            <a:avLst/>
          </a:prstGeom>
          <a:noFill/>
        </p:spPr>
        <p:txBody>
          <a:bodyPr wrap="square" lIns="0" rIns="0" tIns="0" bIns="0">
            <a:spAutoFit/>
          </a:bodyPr>
          <a:lstStyle/>
          <a:p>
            <a:pPr>
              <a:spcAft>
                <a:spcPts val="700"/>
              </a:spcAft>
              <a:defRPr sz="1900" b="1">
                <a:solidFill>
                  <a:srgbClr val="173A35"/>
                </a:solidFill>
                <a:latin typeface="Noto Sans CJK KR"/>
              </a:defRPr>
            </a:pPr>
            <a:r>
              <a:t>구현 포인트</a:t>
            </a:r>
          </a:p>
        </p:txBody>
      </p:sp>
      <p:sp>
        <p:nvSpPr>
          <p:cNvPr id="9" name="TextBox 8"/>
          <p:cNvSpPr txBox="1"/>
          <p:nvPr/>
        </p:nvSpPr>
        <p:spPr>
          <a:xfrm>
            <a:off x="8092440" y="2880360"/>
            <a:ext cx="3337560" cy="2651760"/>
          </a:xfrm>
          <a:prstGeom prst="rect">
            <a:avLst/>
          </a:prstGeom>
          <a:noFill/>
        </p:spPr>
        <p:txBody>
          <a:bodyPr wrap="square" lIns="0" rIns="0" tIns="0" bIns="0">
            <a:spAutoFit/>
          </a:bodyPr>
          <a:lstStyle/>
          <a:p>
            <a:pPr>
              <a:spcAft>
                <a:spcPts val="700"/>
              </a:spcAft>
              <a:defRPr sz="1600" b="0">
                <a:solidFill>
                  <a:srgbClr val="58726A"/>
                </a:solidFill>
                <a:latin typeface="Noto Sans CJK KR"/>
              </a:defRPr>
            </a:pPr>
            <a:r>
              <a:t>YouTube 영상 ID·언어를 먼저 검증합니다.</a:t>
            </a:r>
          </a:p>
          <a:p>
            <a:pPr>
              <a:spcAft>
                <a:spcPts val="700"/>
              </a:spcAft>
              <a:defRPr sz="1600" b="0">
                <a:solidFill>
                  <a:srgbClr val="58726A"/>
                </a:solidFill>
                <a:latin typeface="Noto Sans CJK KR"/>
              </a:defRPr>
            </a:pPr>
          </a:p>
          <a:p>
            <a:pPr>
              <a:spcAft>
                <a:spcPts val="700"/>
              </a:spcAft>
              <a:defRPr sz="1600" b="0">
                <a:solidFill>
                  <a:srgbClr val="58726A"/>
                </a:solidFill>
                <a:latin typeface="Noto Sans CJK KR"/>
              </a:defRPr>
            </a:pPr>
            <a:r>
              <a:t>API 키가 있으면 Supadata, 명시한 local 설정이면 Python 추출기를 사용합니다.</a:t>
            </a:r>
          </a:p>
          <a:p>
            <a:pPr>
              <a:spcAft>
                <a:spcPts val="700"/>
              </a:spcAft>
              <a:defRPr sz="1600" b="0">
                <a:solidFill>
                  <a:srgbClr val="58726A"/>
                </a:solidFill>
                <a:latin typeface="Noto Sans CJK KR"/>
              </a:defRPr>
            </a:pPr>
          </a:p>
          <a:p>
            <a:pPr>
              <a:spcAft>
                <a:spcPts val="700"/>
              </a:spcAft>
              <a:defRPr sz="1600" b="0">
                <a:solidFill>
                  <a:srgbClr val="58726A"/>
                </a:solidFill>
                <a:latin typeface="Noto Sans CJK KR"/>
              </a:defRPr>
            </a:pPr>
            <a:r>
              <a:t>잘못된 설정은 명확한 오류로 처리합니다.</a:t>
            </a:r>
          </a:p>
        </p:txBody>
      </p:sp>
      <p:sp>
        <p:nvSpPr>
          <p:cNvPr id="10" name="Rounded Rectangle 9"/>
          <p:cNvSpPr/>
          <p:nvPr/>
        </p:nvSpPr>
        <p:spPr>
          <a:xfrm>
            <a:off x="621792" y="5833872"/>
            <a:ext cx="10954512" cy="438912"/>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916168"/>
            <a:ext cx="10561320" cy="2743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코드 위치: youtube-transcript.mjs  ·  실제 핵심 구문을 축약·줄바꿈하여 표시</a:t>
            </a:r>
          </a:p>
        </p:txBody>
      </p:sp>
      <p:sp>
        <p:nvSpPr>
          <p:cNvPr id="12" name="Rectangle 11"/>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14" name="TextBox 13"/>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22 / 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06 / 핵심 구현</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핵심 코드 02 — 정확한 부분 선택과 중복 수집 방지</a:t>
            </a:r>
          </a:p>
        </p:txBody>
      </p:sp>
      <p:sp>
        <p:nvSpPr>
          <p:cNvPr id="5" name="Rounded Rectangle 4"/>
          <p:cNvSpPr/>
          <p:nvPr/>
        </p:nvSpPr>
        <p:spPr>
          <a:xfrm>
            <a:off x="621792" y="2066543"/>
            <a:ext cx="7132320" cy="3639312"/>
          </a:xfrm>
          <a:prstGeom prst="roundRect">
            <a:avLst>
              <a:gd name="adj" fmla="val 14000"/>
            </a:avLst>
          </a:prstGeom>
          <a:solidFill>
            <a:srgbClr val="153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2267712"/>
            <a:ext cx="6629400" cy="274320"/>
          </a:xfrm>
          <a:prstGeom prst="rect">
            <a:avLst/>
          </a:prstGeom>
          <a:noFill/>
        </p:spPr>
        <p:txBody>
          <a:bodyPr wrap="square" lIns="0" rIns="0" tIns="0" bIns="0">
            <a:spAutoFit/>
          </a:bodyPr>
          <a:lstStyle/>
          <a:p>
            <a:pPr>
              <a:spcAft>
                <a:spcPts val="700"/>
              </a:spcAft>
              <a:defRPr sz="1200" b="1">
                <a:solidFill>
                  <a:srgbClr val="A6D2C8"/>
                </a:solidFill>
                <a:latin typeface="DejaVu Sans Mono"/>
              </a:defRPr>
            </a:pPr>
            <a:r>
              <a:t>selection anchor / duplicate guard</a:t>
            </a:r>
          </a:p>
        </p:txBody>
      </p:sp>
      <p:sp>
        <p:nvSpPr>
          <p:cNvPr id="7" name="TextBox 6"/>
          <p:cNvSpPr txBox="1"/>
          <p:nvPr/>
        </p:nvSpPr>
        <p:spPr>
          <a:xfrm>
            <a:off x="877824" y="2761488"/>
            <a:ext cx="6629400" cy="2788920"/>
          </a:xfrm>
          <a:prstGeom prst="rect">
            <a:avLst/>
          </a:prstGeom>
          <a:noFill/>
        </p:spPr>
        <p:txBody>
          <a:bodyPr wrap="square" lIns="0" rIns="0" tIns="0" bIns="0">
            <a:spAutoFit/>
          </a:bodyPr>
          <a:lstStyle/>
          <a:p>
            <a:pPr>
              <a:spcAft>
                <a:spcPts val="700"/>
              </a:spcAft>
              <a:defRPr sz="1200" b="0">
                <a:solidFill>
                  <a:srgbClr val="FFFFFF"/>
                </a:solidFill>
                <a:latin typeface="DejaVu Sans Mono"/>
              </a:defRPr>
            </a:pPr>
            <a:r>
              <a:t>// highlighted substring anchor</a:t>
            </a:r>
          </a:p>
          <a:p>
            <a:pPr>
              <a:spcAft>
                <a:spcPts val="700"/>
              </a:spcAft>
              <a:defRPr sz="1200" b="0">
                <a:solidFill>
                  <a:srgbClr val="FFFFFF"/>
                </a:solidFill>
                <a:latin typeface="DejaVu Sans Mono"/>
              </a:defRPr>
            </a:pPr>
            <a:r>
              <a:t>{ cue, start, end, text }</a:t>
            </a:r>
          </a:p>
          <a:p>
            <a:pPr>
              <a:spcAft>
                <a:spcPts val="700"/>
              </a:spcAft>
              <a:defRPr sz="1200" b="0">
                <a:solidFill>
                  <a:srgbClr val="FFFFFF"/>
                </a:solidFill>
                <a:latin typeface="DejaVu Sans Mono"/>
              </a:defRPr>
            </a:pPr>
          </a:p>
          <a:p>
            <a:pPr>
              <a:spcAft>
                <a:spcPts val="700"/>
              </a:spcAft>
              <a:defRPr sz="1200" b="0">
                <a:solidFill>
                  <a:srgbClr val="FFFFFF"/>
                </a:solidFill>
                <a:latin typeface="DejaVu Sans Mono"/>
              </a:defRPr>
            </a:pPr>
            <a:r>
              <a:t>// same phrase, video, time and category</a:t>
            </a:r>
          </a:p>
          <a:p>
            <a:pPr>
              <a:spcAft>
                <a:spcPts val="700"/>
              </a:spcAft>
              <a:defRPr sz="1200" b="0">
                <a:solidFill>
                  <a:srgbClr val="FFFFFF"/>
                </a:solidFill>
                <a:latin typeface="DejaVu Sans Mono"/>
              </a:defRPr>
            </a:pPr>
            <a:r>
              <a:t>c.text === item.text</a:t>
            </a:r>
          </a:p>
          <a:p>
            <a:pPr>
              <a:spcAft>
                <a:spcPts val="700"/>
              </a:spcAft>
              <a:defRPr sz="1200" b="0">
                <a:solidFill>
                  <a:srgbClr val="FFFFFF"/>
                </a:solidFill>
                <a:latin typeface="DejaVu Sans Mono"/>
              </a:defRPr>
            </a:pPr>
            <a:r>
              <a:t>  &amp;&amp; sameVideo(c.url, item.url)</a:t>
            </a:r>
          </a:p>
          <a:p>
            <a:pPr>
              <a:spcAft>
                <a:spcPts val="700"/>
              </a:spcAft>
              <a:defRPr sz="1200" b="0">
                <a:solidFill>
                  <a:srgbClr val="FFFFFF"/>
                </a:solidFill>
                <a:latin typeface="DejaVu Sans Mono"/>
              </a:defRPr>
            </a:pPr>
            <a:r>
              <a:t>  &amp;&amp; c.start === item.start</a:t>
            </a:r>
          </a:p>
          <a:p>
            <a:pPr>
              <a:spcAft>
                <a:spcPts val="700"/>
              </a:spcAft>
              <a:defRPr sz="1200" b="0">
                <a:solidFill>
                  <a:srgbClr val="FFFFFF"/>
                </a:solidFill>
                <a:latin typeface="DejaVu Sans Mono"/>
              </a:defRPr>
            </a:pPr>
            <a:r>
              <a:t>  &amp;&amp; (c.category || '일반') === item.category</a:t>
            </a:r>
          </a:p>
        </p:txBody>
      </p:sp>
      <p:sp>
        <p:nvSpPr>
          <p:cNvPr id="8" name="TextBox 7"/>
          <p:cNvSpPr txBox="1"/>
          <p:nvPr/>
        </p:nvSpPr>
        <p:spPr>
          <a:xfrm>
            <a:off x="8092440" y="2194560"/>
            <a:ext cx="3383280" cy="502920"/>
          </a:xfrm>
          <a:prstGeom prst="rect">
            <a:avLst/>
          </a:prstGeom>
          <a:noFill/>
        </p:spPr>
        <p:txBody>
          <a:bodyPr wrap="square" lIns="0" rIns="0" tIns="0" bIns="0">
            <a:spAutoFit/>
          </a:bodyPr>
          <a:lstStyle/>
          <a:p>
            <a:pPr>
              <a:spcAft>
                <a:spcPts val="700"/>
              </a:spcAft>
              <a:defRPr sz="1900" b="1">
                <a:solidFill>
                  <a:srgbClr val="173A35"/>
                </a:solidFill>
                <a:latin typeface="Noto Sans CJK KR"/>
              </a:defRPr>
            </a:pPr>
            <a:r>
              <a:t>구현 포인트</a:t>
            </a:r>
          </a:p>
        </p:txBody>
      </p:sp>
      <p:sp>
        <p:nvSpPr>
          <p:cNvPr id="9" name="TextBox 8"/>
          <p:cNvSpPr txBox="1"/>
          <p:nvPr/>
        </p:nvSpPr>
        <p:spPr>
          <a:xfrm>
            <a:off x="8092440" y="2880360"/>
            <a:ext cx="3337560" cy="2651760"/>
          </a:xfrm>
          <a:prstGeom prst="rect">
            <a:avLst/>
          </a:prstGeom>
          <a:noFill/>
        </p:spPr>
        <p:txBody>
          <a:bodyPr wrap="square" lIns="0" rIns="0" tIns="0" bIns="0">
            <a:spAutoFit/>
          </a:bodyPr>
          <a:lstStyle/>
          <a:p>
            <a:pPr>
              <a:spcAft>
                <a:spcPts val="700"/>
              </a:spcAft>
              <a:defRPr sz="1600" b="0">
                <a:solidFill>
                  <a:srgbClr val="58726A"/>
                </a:solidFill>
                <a:latin typeface="Noto Sans CJK KR"/>
              </a:defRPr>
            </a:pPr>
            <a:r>
              <a:t>화면 위치 대신 문장 번호·문자 오프셋으로 저장합니다.</a:t>
            </a:r>
          </a:p>
          <a:p>
            <a:pPr>
              <a:spcAft>
                <a:spcPts val="700"/>
              </a:spcAft>
              <a:defRPr sz="1600" b="0">
                <a:solidFill>
                  <a:srgbClr val="58726A"/>
                </a:solidFill>
                <a:latin typeface="Noto Sans CJK KR"/>
              </a:defRPr>
            </a:pPr>
          </a:p>
          <a:p>
            <a:pPr>
              <a:spcAft>
                <a:spcPts val="700"/>
              </a:spcAft>
              <a:defRPr sz="1600" b="0">
                <a:solidFill>
                  <a:srgbClr val="58726A"/>
                </a:solidFill>
                <a:latin typeface="Noto Sans CJK KR"/>
              </a:defRPr>
            </a:pPr>
            <a:r>
              <a:t>원본과 선택 문자열이 일치해야 유효합니다.</a:t>
            </a:r>
          </a:p>
          <a:p>
            <a:pPr>
              <a:spcAft>
                <a:spcPts val="700"/>
              </a:spcAft>
              <a:defRPr sz="1600" b="0">
                <a:solidFill>
                  <a:srgbClr val="58726A"/>
                </a:solidFill>
                <a:latin typeface="Noto Sans CJK KR"/>
              </a:defRPr>
            </a:pPr>
          </a:p>
          <a:p>
            <a:pPr>
              <a:spcAft>
                <a:spcPts val="700"/>
              </a:spcAft>
              <a:defRPr sz="1600" b="0">
                <a:solidFill>
                  <a:srgbClr val="58726A"/>
                </a:solidFill>
                <a:latin typeface="Noto Sans CJK KR"/>
              </a:defRPr>
            </a:pPr>
            <a:r>
              <a:t>같은 자료를 다시 수집하면 0개 성공 대신 중복 안내를 표시합니다.</a:t>
            </a:r>
          </a:p>
        </p:txBody>
      </p:sp>
      <p:sp>
        <p:nvSpPr>
          <p:cNvPr id="10" name="Rounded Rectangle 9"/>
          <p:cNvSpPr/>
          <p:nvPr/>
        </p:nvSpPr>
        <p:spPr>
          <a:xfrm>
            <a:off x="621792" y="5833872"/>
            <a:ext cx="10954512" cy="438912"/>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916168"/>
            <a:ext cx="10561320" cy="2743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코드 위치: src/transcript-workspace.js · src/app.js  ·  실제 핵심 구문을 축약·줄바꿈하여 표시</a:t>
            </a:r>
          </a:p>
        </p:txBody>
      </p:sp>
      <p:sp>
        <p:nvSpPr>
          <p:cNvPr id="12" name="Rectangle 11"/>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14" name="TextBox 13"/>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23 / 32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06 / 핵심 구현</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핵심 코드 03 — 녹음 상태와 늦은 권한 응답 처리</a:t>
            </a:r>
          </a:p>
        </p:txBody>
      </p:sp>
      <p:sp>
        <p:nvSpPr>
          <p:cNvPr id="5" name="Rounded Rectangle 4"/>
          <p:cNvSpPr/>
          <p:nvPr/>
        </p:nvSpPr>
        <p:spPr>
          <a:xfrm>
            <a:off x="621792" y="2066543"/>
            <a:ext cx="7132320" cy="3639312"/>
          </a:xfrm>
          <a:prstGeom prst="roundRect">
            <a:avLst>
              <a:gd name="adj" fmla="val 14000"/>
            </a:avLst>
          </a:prstGeom>
          <a:solidFill>
            <a:srgbClr val="153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2267712"/>
            <a:ext cx="6629400" cy="274320"/>
          </a:xfrm>
          <a:prstGeom prst="rect">
            <a:avLst/>
          </a:prstGeom>
          <a:noFill/>
        </p:spPr>
        <p:txBody>
          <a:bodyPr wrap="square" lIns="0" rIns="0" tIns="0" bIns="0">
            <a:spAutoFit/>
          </a:bodyPr>
          <a:lstStyle/>
          <a:p>
            <a:pPr>
              <a:spcAft>
                <a:spcPts val="700"/>
              </a:spcAft>
              <a:defRPr sz="1200" b="1">
                <a:solidFill>
                  <a:srgbClr val="A6D2C8"/>
                </a:solidFill>
                <a:latin typeface="DejaVu Sans Mono"/>
              </a:defRPr>
            </a:pPr>
            <a:r>
              <a:t>ArchiveRecorder.start()</a:t>
            </a:r>
          </a:p>
        </p:txBody>
      </p:sp>
      <p:sp>
        <p:nvSpPr>
          <p:cNvPr id="7" name="TextBox 6"/>
          <p:cNvSpPr txBox="1"/>
          <p:nvPr/>
        </p:nvSpPr>
        <p:spPr>
          <a:xfrm>
            <a:off x="877824" y="2761488"/>
            <a:ext cx="6629400" cy="2788920"/>
          </a:xfrm>
          <a:prstGeom prst="rect">
            <a:avLst/>
          </a:prstGeom>
          <a:noFill/>
        </p:spPr>
        <p:txBody>
          <a:bodyPr wrap="square" lIns="0" rIns="0" tIns="0" bIns="0">
            <a:spAutoFit/>
          </a:bodyPr>
          <a:lstStyle/>
          <a:p>
            <a:pPr>
              <a:spcAft>
                <a:spcPts val="700"/>
              </a:spcAft>
              <a:defRPr sz="1200" b="0">
                <a:solidFill>
                  <a:srgbClr val="FFFFFF"/>
                </a:solidFill>
                <a:latin typeface="DejaVu Sans Mono"/>
              </a:defRPr>
            </a:pPr>
            <a:r>
              <a:t>const stream = await navigator.mediaDevices</a:t>
            </a:r>
          </a:p>
          <a:p>
            <a:pPr>
              <a:spcAft>
                <a:spcPts val="700"/>
              </a:spcAft>
              <a:defRPr sz="1200" b="0">
                <a:solidFill>
                  <a:srgbClr val="FFFFFF"/>
                </a:solidFill>
                <a:latin typeface="DejaVu Sans Mono"/>
              </a:defRPr>
            </a:pPr>
            <a:r>
              <a:t>  .getUserMedia({ audio: true });</a:t>
            </a:r>
          </a:p>
          <a:p>
            <a:pPr>
              <a:spcAft>
                <a:spcPts val="700"/>
              </a:spcAft>
              <a:defRPr sz="1200" b="0">
                <a:solidFill>
                  <a:srgbClr val="FFFFFF"/>
                </a:solidFill>
                <a:latin typeface="DejaVu Sans Mono"/>
              </a:defRPr>
            </a:pPr>
            <a:r>
              <a:t>if (session !== this.session</a:t>
            </a:r>
          </a:p>
          <a:p>
            <a:pPr>
              <a:spcAft>
                <a:spcPts val="700"/>
              </a:spcAft>
              <a:defRPr sz="1200" b="0">
                <a:solidFill>
                  <a:srgbClr val="FFFFFF"/>
                </a:solidFill>
                <a:latin typeface="DejaVu Sans Mono"/>
              </a:defRPr>
            </a:pPr>
            <a:r>
              <a:t>    || !root.isConnected) {</a:t>
            </a:r>
          </a:p>
          <a:p>
            <a:pPr>
              <a:spcAft>
                <a:spcPts val="700"/>
              </a:spcAft>
              <a:defRPr sz="1200" b="0">
                <a:solidFill>
                  <a:srgbClr val="FFFFFF"/>
                </a:solidFill>
                <a:latin typeface="DejaVu Sans Mono"/>
              </a:defRPr>
            </a:pPr>
            <a:r>
              <a:t>  stream.getTracks().forEach(t =&gt; t.stop());</a:t>
            </a:r>
          </a:p>
          <a:p>
            <a:pPr>
              <a:spcAft>
                <a:spcPts val="700"/>
              </a:spcAft>
              <a:defRPr sz="1200" b="0">
                <a:solidFill>
                  <a:srgbClr val="FFFFFF"/>
                </a:solidFill>
                <a:latin typeface="DejaVu Sans Mono"/>
              </a:defRPr>
            </a:pPr>
            <a:r>
              <a:t>  return;</a:t>
            </a:r>
          </a:p>
          <a:p>
            <a:pPr>
              <a:spcAft>
                <a:spcPts val="700"/>
              </a:spcAft>
              <a:defRPr sz="1200" b="0">
                <a:solidFill>
                  <a:srgbClr val="FFFFFF"/>
                </a:solidFill>
                <a:latin typeface="DejaVu Sans Mono"/>
              </a:defRPr>
            </a:pPr>
            <a:r>
              <a:t>}</a:t>
            </a:r>
          </a:p>
          <a:p>
            <a:pPr>
              <a:spcAft>
                <a:spcPts val="700"/>
              </a:spcAft>
              <a:defRPr sz="1200" b="0">
                <a:solidFill>
                  <a:srgbClr val="FFFFFF"/>
                </a:solidFill>
                <a:latin typeface="DejaVu Sans Mono"/>
              </a:defRPr>
            </a:pPr>
            <a:r>
              <a:t>const recorder = new MediaRecorder(stream, options);</a:t>
            </a:r>
          </a:p>
        </p:txBody>
      </p:sp>
      <p:sp>
        <p:nvSpPr>
          <p:cNvPr id="8" name="TextBox 7"/>
          <p:cNvSpPr txBox="1"/>
          <p:nvPr/>
        </p:nvSpPr>
        <p:spPr>
          <a:xfrm>
            <a:off x="8092440" y="2194560"/>
            <a:ext cx="3383280" cy="502920"/>
          </a:xfrm>
          <a:prstGeom prst="rect">
            <a:avLst/>
          </a:prstGeom>
          <a:noFill/>
        </p:spPr>
        <p:txBody>
          <a:bodyPr wrap="square" lIns="0" rIns="0" tIns="0" bIns="0">
            <a:spAutoFit/>
          </a:bodyPr>
          <a:lstStyle/>
          <a:p>
            <a:pPr>
              <a:spcAft>
                <a:spcPts val="700"/>
              </a:spcAft>
              <a:defRPr sz="1900" b="1">
                <a:solidFill>
                  <a:srgbClr val="173A35"/>
                </a:solidFill>
                <a:latin typeface="Noto Sans CJK KR"/>
              </a:defRPr>
            </a:pPr>
            <a:r>
              <a:t>구현 포인트</a:t>
            </a:r>
          </a:p>
        </p:txBody>
      </p:sp>
      <p:sp>
        <p:nvSpPr>
          <p:cNvPr id="9" name="TextBox 8"/>
          <p:cNvSpPr txBox="1"/>
          <p:nvPr/>
        </p:nvSpPr>
        <p:spPr>
          <a:xfrm>
            <a:off x="8092440" y="2880360"/>
            <a:ext cx="3337560" cy="2651760"/>
          </a:xfrm>
          <a:prstGeom prst="rect">
            <a:avLst/>
          </a:prstGeom>
          <a:noFill/>
        </p:spPr>
        <p:txBody>
          <a:bodyPr wrap="square" lIns="0" rIns="0" tIns="0" bIns="0">
            <a:spAutoFit/>
          </a:bodyPr>
          <a:lstStyle/>
          <a:p>
            <a:pPr>
              <a:spcAft>
                <a:spcPts val="700"/>
              </a:spcAft>
              <a:defRPr sz="1600" b="0">
                <a:solidFill>
                  <a:srgbClr val="58726A"/>
                </a:solidFill>
                <a:latin typeface="Noto Sans CJK KR"/>
              </a:defRPr>
            </a:pPr>
            <a:r>
              <a:t>idle → 권한 요청 → recording → preview → saving</a:t>
            </a:r>
          </a:p>
          <a:p>
            <a:pPr>
              <a:spcAft>
                <a:spcPts val="700"/>
              </a:spcAft>
              <a:defRPr sz="1600" b="0">
                <a:solidFill>
                  <a:srgbClr val="58726A"/>
                </a:solidFill>
                <a:latin typeface="Noto Sans CJK KR"/>
              </a:defRPr>
            </a:pPr>
          </a:p>
          <a:p>
            <a:pPr>
              <a:spcAft>
                <a:spcPts val="700"/>
              </a:spcAft>
              <a:defRPr sz="1600" b="0">
                <a:solidFill>
                  <a:srgbClr val="58726A"/>
                </a:solidFill>
                <a:latin typeface="Noto Sans CJK KR"/>
              </a:defRPr>
            </a:pPr>
            <a:r>
              <a:t>권한 요청 중 화면을 벗어나면 늦게 열린 마이크도 즉시 해제합니다.</a:t>
            </a:r>
          </a:p>
          <a:p>
            <a:pPr>
              <a:spcAft>
                <a:spcPts val="700"/>
              </a:spcAft>
              <a:defRPr sz="1600" b="0">
                <a:solidFill>
                  <a:srgbClr val="58726A"/>
                </a:solidFill>
                <a:latin typeface="Noto Sans CJK KR"/>
              </a:defRPr>
            </a:pPr>
          </a:p>
          <a:p>
            <a:pPr>
              <a:spcAft>
                <a:spcPts val="700"/>
              </a:spcAft>
              <a:defRPr sz="1600" b="0">
                <a:solidFill>
                  <a:srgbClr val="58726A"/>
                </a:solidFill>
                <a:latin typeface="Noto Sans CJK KR"/>
              </a:defRPr>
            </a:pPr>
            <a:r>
              <a:t>MediaRecorder는 원본에서 지원 MIME을 고른 뒤 options를 구성합니다.</a:t>
            </a:r>
          </a:p>
        </p:txBody>
      </p:sp>
      <p:sp>
        <p:nvSpPr>
          <p:cNvPr id="10" name="Rounded Rectangle 9"/>
          <p:cNvSpPr/>
          <p:nvPr/>
        </p:nvSpPr>
        <p:spPr>
          <a:xfrm>
            <a:off x="621792" y="5833872"/>
            <a:ext cx="10954512" cy="438912"/>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916168"/>
            <a:ext cx="10561320" cy="2743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코드 위치: src/archive-recorder.js  ·  실제 핵심 구문을 축약·줄바꿈하여 표시</a:t>
            </a:r>
          </a:p>
        </p:txBody>
      </p:sp>
      <p:sp>
        <p:nvSpPr>
          <p:cNvPr id="12" name="Rectangle 11"/>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14" name="TextBox 13"/>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24 / 32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06 / 핵심 구현</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핵심 코드 04 — Google Sheets에 안전한 값으로 쓰기</a:t>
            </a:r>
          </a:p>
        </p:txBody>
      </p:sp>
      <p:sp>
        <p:nvSpPr>
          <p:cNvPr id="5" name="Rounded Rectangle 4"/>
          <p:cNvSpPr/>
          <p:nvPr/>
        </p:nvSpPr>
        <p:spPr>
          <a:xfrm>
            <a:off x="621792" y="2066543"/>
            <a:ext cx="7132320" cy="3639312"/>
          </a:xfrm>
          <a:prstGeom prst="roundRect">
            <a:avLst>
              <a:gd name="adj" fmla="val 14000"/>
            </a:avLst>
          </a:prstGeom>
          <a:solidFill>
            <a:srgbClr val="153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2267712"/>
            <a:ext cx="6629400" cy="274320"/>
          </a:xfrm>
          <a:prstGeom prst="rect">
            <a:avLst/>
          </a:prstGeom>
          <a:noFill/>
        </p:spPr>
        <p:txBody>
          <a:bodyPr wrap="square" lIns="0" rIns="0" tIns="0" bIns="0">
            <a:spAutoFit/>
          </a:bodyPr>
          <a:lstStyle/>
          <a:p>
            <a:pPr>
              <a:spcAft>
                <a:spcPts val="700"/>
              </a:spcAft>
              <a:defRPr sz="1200" b="1">
                <a:solidFill>
                  <a:srgbClr val="A6D2C8"/>
                </a:solidFill>
                <a:latin typeface="DejaVu Sans Mono"/>
              </a:defRPr>
            </a:pPr>
            <a:r>
              <a:t>Sheets API / updateCells</a:t>
            </a:r>
          </a:p>
        </p:txBody>
      </p:sp>
      <p:sp>
        <p:nvSpPr>
          <p:cNvPr id="7" name="TextBox 6"/>
          <p:cNvSpPr txBox="1"/>
          <p:nvPr/>
        </p:nvSpPr>
        <p:spPr>
          <a:xfrm>
            <a:off x="877824" y="2761488"/>
            <a:ext cx="6629400" cy="2788920"/>
          </a:xfrm>
          <a:prstGeom prst="rect">
            <a:avLst/>
          </a:prstGeom>
          <a:noFill/>
        </p:spPr>
        <p:txBody>
          <a:bodyPr wrap="square" lIns="0" rIns="0" tIns="0" bIns="0">
            <a:spAutoFit/>
          </a:bodyPr>
          <a:lstStyle/>
          <a:p>
            <a:pPr>
              <a:spcAft>
                <a:spcPts val="700"/>
              </a:spcAft>
              <a:defRPr sz="1200" b="0">
                <a:solidFill>
                  <a:srgbClr val="FFFFFF"/>
                </a:solidFill>
                <a:latin typeface="DejaVu Sans Mono"/>
              </a:defRPr>
            </a:pPr>
            <a:r>
              <a:t>fetch('https://sheets.googleapis.com/v4/'</a:t>
            </a:r>
          </a:p>
          <a:p>
            <a:pPr>
              <a:spcAft>
                <a:spcPts val="700"/>
              </a:spcAft>
              <a:defRPr sz="1200" b="0">
                <a:solidFill>
                  <a:srgbClr val="FFFFFF"/>
                </a:solidFill>
                <a:latin typeface="DejaVu Sans Mono"/>
              </a:defRPr>
            </a:pPr>
            <a:r>
              <a:t>  + 'spreadsheets' + path, {</a:t>
            </a:r>
          </a:p>
          <a:p>
            <a:pPr>
              <a:spcAft>
                <a:spcPts val="700"/>
              </a:spcAft>
              <a:defRPr sz="1200" b="0">
                <a:solidFill>
                  <a:srgbClr val="FFFFFF"/>
                </a:solidFill>
                <a:latin typeface="DejaVu Sans Mono"/>
              </a:defRPr>
            </a:pPr>
            <a:r>
              <a:t>  method: 'POST',</a:t>
            </a:r>
          </a:p>
          <a:p>
            <a:pPr>
              <a:spcAft>
                <a:spcPts val="700"/>
              </a:spcAft>
              <a:defRPr sz="1200" b="0">
                <a:solidFill>
                  <a:srgbClr val="FFFFFF"/>
                </a:solidFill>
                <a:latin typeface="DejaVu Sans Mono"/>
              </a:defRPr>
            </a:pPr>
            <a:r>
              <a:t>  headers: { Authorization: `Bearer ${token}` },</a:t>
            </a:r>
          </a:p>
          <a:p>
            <a:pPr>
              <a:spcAft>
                <a:spcPts val="700"/>
              </a:spcAft>
              <a:defRPr sz="1200" b="0">
                <a:solidFill>
                  <a:srgbClr val="FFFFFF"/>
                </a:solidFill>
                <a:latin typeface="DejaVu Sans Mono"/>
              </a:defRPr>
            </a:pPr>
            <a:r>
              <a:t>  body: JSON.stringify(body)</a:t>
            </a:r>
          </a:p>
          <a:p>
            <a:pPr>
              <a:spcAft>
                <a:spcPts val="700"/>
              </a:spcAft>
              <a:defRPr sz="1200" b="0">
                <a:solidFill>
                  <a:srgbClr val="FFFFFF"/>
                </a:solidFill>
                <a:latin typeface="DejaVu Sans Mono"/>
              </a:defRPr>
            </a:pPr>
            <a:r>
              <a:t>});</a:t>
            </a:r>
          </a:p>
          <a:p>
            <a:pPr>
              <a:spcAft>
                <a:spcPts val="700"/>
              </a:spcAft>
              <a:defRPr sz="1200" b="0">
                <a:solidFill>
                  <a:srgbClr val="FFFFFF"/>
                </a:solidFill>
                <a:latin typeface="DejaVu Sans Mono"/>
              </a:defRPr>
            </a:pPr>
            <a:r>
              <a:t>// Cells use stringValue / numberValue,</a:t>
            </a:r>
          </a:p>
          <a:p>
            <a:pPr>
              <a:spcAft>
                <a:spcPts val="700"/>
              </a:spcAft>
              <a:defRPr sz="1200" b="0">
                <a:solidFill>
                  <a:srgbClr val="FFFFFF"/>
                </a:solidFill>
                <a:latin typeface="DejaVu Sans Mono"/>
              </a:defRPr>
            </a:pPr>
            <a:r>
              <a:t>// not interpreted formulas.</a:t>
            </a:r>
          </a:p>
        </p:txBody>
      </p:sp>
      <p:sp>
        <p:nvSpPr>
          <p:cNvPr id="8" name="TextBox 7"/>
          <p:cNvSpPr txBox="1"/>
          <p:nvPr/>
        </p:nvSpPr>
        <p:spPr>
          <a:xfrm>
            <a:off x="8092440" y="2194560"/>
            <a:ext cx="3383280" cy="502920"/>
          </a:xfrm>
          <a:prstGeom prst="rect">
            <a:avLst/>
          </a:prstGeom>
          <a:noFill/>
        </p:spPr>
        <p:txBody>
          <a:bodyPr wrap="square" lIns="0" rIns="0" tIns="0" bIns="0">
            <a:spAutoFit/>
          </a:bodyPr>
          <a:lstStyle/>
          <a:p>
            <a:pPr>
              <a:spcAft>
                <a:spcPts val="700"/>
              </a:spcAft>
              <a:defRPr sz="1900" b="1">
                <a:solidFill>
                  <a:srgbClr val="173A35"/>
                </a:solidFill>
                <a:latin typeface="Noto Sans CJK KR"/>
              </a:defRPr>
            </a:pPr>
            <a:r>
              <a:t>구현 포인트</a:t>
            </a:r>
          </a:p>
        </p:txBody>
      </p:sp>
      <p:sp>
        <p:nvSpPr>
          <p:cNvPr id="9" name="TextBox 8"/>
          <p:cNvSpPr txBox="1"/>
          <p:nvPr/>
        </p:nvSpPr>
        <p:spPr>
          <a:xfrm>
            <a:off x="8092440" y="2880360"/>
            <a:ext cx="3337560" cy="2651760"/>
          </a:xfrm>
          <a:prstGeom prst="rect">
            <a:avLst/>
          </a:prstGeom>
          <a:noFill/>
        </p:spPr>
        <p:txBody>
          <a:bodyPr wrap="square" lIns="0" rIns="0" tIns="0" bIns="0">
            <a:spAutoFit/>
          </a:bodyPr>
          <a:lstStyle/>
          <a:p>
            <a:pPr>
              <a:spcAft>
                <a:spcPts val="700"/>
              </a:spcAft>
              <a:defRPr sz="1600" b="0">
                <a:solidFill>
                  <a:srgbClr val="58726A"/>
                </a:solidFill>
                <a:latin typeface="Noto Sans CJK KR"/>
              </a:defRPr>
            </a:pPr>
            <a:r>
              <a:t>OAuth drive.file 범위를 사용합니다.</a:t>
            </a:r>
          </a:p>
          <a:p>
            <a:pPr>
              <a:spcAft>
                <a:spcPts val="700"/>
              </a:spcAft>
              <a:defRPr sz="1600" b="0">
                <a:solidFill>
                  <a:srgbClr val="58726A"/>
                </a:solidFill>
                <a:latin typeface="Noto Sans CJK KR"/>
              </a:defRPr>
            </a:pPr>
          </a:p>
          <a:p>
            <a:pPr>
              <a:spcAft>
                <a:spcPts val="700"/>
              </a:spcAft>
              <a:defRPr sz="1600" b="0">
                <a:solidFill>
                  <a:srgbClr val="58726A"/>
                </a:solidFill>
                <a:latin typeface="Noto Sans CJK KR"/>
              </a:defRPr>
            </a:pPr>
            <a:r>
              <a:t>새 시트를 만든 뒤 16개 열의 값으로 기록합니다.</a:t>
            </a:r>
          </a:p>
          <a:p>
            <a:pPr>
              <a:spcAft>
                <a:spcPts val="700"/>
              </a:spcAft>
              <a:defRPr sz="1600" b="0">
                <a:solidFill>
                  <a:srgbClr val="58726A"/>
                </a:solidFill>
                <a:latin typeface="Noto Sans CJK KR"/>
              </a:defRPr>
            </a:pPr>
          </a:p>
          <a:p>
            <a:pPr>
              <a:spcAft>
                <a:spcPts val="700"/>
              </a:spcAft>
              <a:defRPr sz="1600" b="0">
                <a:solidFill>
                  <a:srgbClr val="58726A"/>
                </a:solidFill>
                <a:latin typeface="Noto Sans CJK KR"/>
              </a:defRPr>
            </a:pPr>
            <a:r>
              <a:t>문자열은 수식으로 실행하지 않으며 실패하면 부분 생성된 시트도 안내합니다.</a:t>
            </a:r>
          </a:p>
        </p:txBody>
      </p:sp>
      <p:sp>
        <p:nvSpPr>
          <p:cNvPr id="10" name="Rounded Rectangle 9"/>
          <p:cNvSpPr/>
          <p:nvPr/>
        </p:nvSpPr>
        <p:spPr>
          <a:xfrm>
            <a:off x="621792" y="5833872"/>
            <a:ext cx="10954512" cy="438912"/>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916168"/>
            <a:ext cx="10561320" cy="2743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코드 위치: src/google-sheets.js  ·  실제 핵심 구문을 축약·줄바꿈하여 표시</a:t>
            </a:r>
          </a:p>
        </p:txBody>
      </p:sp>
      <p:sp>
        <p:nvSpPr>
          <p:cNvPr id="12" name="Rectangle 11"/>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14" name="TextBox 13"/>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25 / 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06 / 핵심 구현</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핵심 코드 05 — 기기 연결 키와 예약 상태를 분리</a:t>
            </a:r>
          </a:p>
        </p:txBody>
      </p:sp>
      <p:sp>
        <p:nvSpPr>
          <p:cNvPr id="5" name="Rounded Rectangle 4"/>
          <p:cNvSpPr/>
          <p:nvPr/>
        </p:nvSpPr>
        <p:spPr>
          <a:xfrm>
            <a:off x="621792" y="2066543"/>
            <a:ext cx="7132320" cy="3639312"/>
          </a:xfrm>
          <a:prstGeom prst="roundRect">
            <a:avLst>
              <a:gd name="adj" fmla="val 14000"/>
            </a:avLst>
          </a:prstGeom>
          <a:solidFill>
            <a:srgbClr val="153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2267712"/>
            <a:ext cx="6629400" cy="274320"/>
          </a:xfrm>
          <a:prstGeom prst="rect">
            <a:avLst/>
          </a:prstGeom>
          <a:noFill/>
        </p:spPr>
        <p:txBody>
          <a:bodyPr wrap="square" lIns="0" rIns="0" tIns="0" bIns="0">
            <a:spAutoFit/>
          </a:bodyPr>
          <a:lstStyle/>
          <a:p>
            <a:pPr>
              <a:spcAft>
                <a:spcPts val="700"/>
              </a:spcAft>
              <a:defRPr sz="1200" b="1">
                <a:solidFill>
                  <a:srgbClr val="A6D2C8"/>
                </a:solidFill>
                <a:latin typeface="DejaVu Sans Mono"/>
              </a:defRPr>
            </a:pPr>
            <a:r>
              <a:t>push-service.mjs</a:t>
            </a:r>
          </a:p>
        </p:txBody>
      </p:sp>
      <p:sp>
        <p:nvSpPr>
          <p:cNvPr id="7" name="TextBox 6"/>
          <p:cNvSpPr txBox="1"/>
          <p:nvPr/>
        </p:nvSpPr>
        <p:spPr>
          <a:xfrm>
            <a:off x="877824" y="2761488"/>
            <a:ext cx="6629400" cy="2788920"/>
          </a:xfrm>
          <a:prstGeom prst="rect">
            <a:avLst/>
          </a:prstGeom>
          <a:noFill/>
        </p:spPr>
        <p:txBody>
          <a:bodyPr wrap="square" lIns="0" rIns="0" tIns="0" bIns="0">
            <a:spAutoFit/>
          </a:bodyPr>
          <a:lstStyle/>
          <a:p>
            <a:pPr>
              <a:spcAft>
                <a:spcPts val="700"/>
              </a:spcAft>
              <a:defRPr sz="1200" b="0">
                <a:solidFill>
                  <a:srgbClr val="FFFFFF"/>
                </a:solidFill>
                <a:latin typeface="DejaVu Sans Mono"/>
              </a:defRPr>
            </a:pPr>
            <a:r>
              <a:t>createHash('sha256')</a:t>
            </a:r>
          </a:p>
          <a:p>
            <a:pPr>
              <a:spcAft>
                <a:spcPts val="700"/>
              </a:spcAft>
              <a:defRPr sz="1200" b="0">
                <a:solidFill>
                  <a:srgbClr val="FFFFFF"/>
                </a:solidFill>
                <a:latin typeface="DejaVu Sans Mono"/>
              </a:defRPr>
            </a:pPr>
            <a:r>
              <a:t>  .update(token).digest('hex');</a:t>
            </a:r>
          </a:p>
          <a:p>
            <a:pPr>
              <a:spcAft>
                <a:spcPts val="700"/>
              </a:spcAft>
              <a:defRPr sz="1200" b="0">
                <a:solidFill>
                  <a:srgbClr val="FFFFFF"/>
                </a:solidFill>
                <a:latin typeface="DejaVu Sans Mono"/>
              </a:defRPr>
            </a:pPr>
          </a:p>
          <a:p>
            <a:pPr>
              <a:spcAft>
                <a:spcPts val="700"/>
              </a:spcAft>
              <a:defRPr sz="1200" b="0">
                <a:solidFill>
                  <a:srgbClr val="FFFFFF"/>
                </a:solidFill>
                <a:latin typeface="DejaVu Sans Mono"/>
              </a:defRPr>
            </a:pPr>
            <a:r>
              <a:t>SELECT * FROM reminders</a:t>
            </a:r>
          </a:p>
          <a:p>
            <a:pPr>
              <a:spcAft>
                <a:spcPts val="700"/>
              </a:spcAft>
              <a:defRPr sz="1200" b="0">
                <a:solidFill>
                  <a:srgbClr val="FFFFFF"/>
                </a:solidFill>
                <a:latin typeface="DejaVu Sans Mono"/>
              </a:defRPr>
            </a:pPr>
            <a:r>
              <a:t> WHERE status = 'pending' AND due &lt;= ?</a:t>
            </a:r>
          </a:p>
          <a:p>
            <a:pPr>
              <a:spcAft>
                <a:spcPts val="700"/>
              </a:spcAft>
              <a:defRPr sz="1200" b="0">
                <a:solidFill>
                  <a:srgbClr val="FFFFFF"/>
                </a:solidFill>
                <a:latin typeface="DejaVu Sans Mono"/>
              </a:defRPr>
            </a:pPr>
            <a:r>
              <a:t> ORDER BY due LIMIT 20;</a:t>
            </a:r>
          </a:p>
          <a:p>
            <a:pPr>
              <a:spcAft>
                <a:spcPts val="700"/>
              </a:spcAft>
              <a:defRPr sz="1200" b="0">
                <a:solidFill>
                  <a:srgbClr val="FFFFFF"/>
                </a:solidFill>
                <a:latin typeface="DejaVu Sans Mono"/>
              </a:defRPr>
            </a:pPr>
          </a:p>
          <a:p>
            <a:pPr>
              <a:spcAft>
                <a:spcPts val="700"/>
              </a:spcAft>
              <a:defRPr sz="1200" b="0">
                <a:solidFill>
                  <a:srgbClr val="FFFFFF"/>
                </a:solidFill>
                <a:latin typeface="DejaVu Sans Mono"/>
              </a:defRPr>
            </a:pPr>
            <a:r>
              <a:t>// pending → sending → sent / failed / expired</a:t>
            </a:r>
          </a:p>
        </p:txBody>
      </p:sp>
      <p:sp>
        <p:nvSpPr>
          <p:cNvPr id="8" name="TextBox 7"/>
          <p:cNvSpPr txBox="1"/>
          <p:nvPr/>
        </p:nvSpPr>
        <p:spPr>
          <a:xfrm>
            <a:off x="8092440" y="2194560"/>
            <a:ext cx="3383280" cy="502920"/>
          </a:xfrm>
          <a:prstGeom prst="rect">
            <a:avLst/>
          </a:prstGeom>
          <a:noFill/>
        </p:spPr>
        <p:txBody>
          <a:bodyPr wrap="square" lIns="0" rIns="0" tIns="0" bIns="0">
            <a:spAutoFit/>
          </a:bodyPr>
          <a:lstStyle/>
          <a:p>
            <a:pPr>
              <a:spcAft>
                <a:spcPts val="700"/>
              </a:spcAft>
              <a:defRPr sz="1900" b="1">
                <a:solidFill>
                  <a:srgbClr val="173A35"/>
                </a:solidFill>
                <a:latin typeface="Noto Sans CJK KR"/>
              </a:defRPr>
            </a:pPr>
            <a:r>
              <a:t>구현 포인트</a:t>
            </a:r>
          </a:p>
        </p:txBody>
      </p:sp>
      <p:sp>
        <p:nvSpPr>
          <p:cNvPr id="9" name="TextBox 8"/>
          <p:cNvSpPr txBox="1"/>
          <p:nvPr/>
        </p:nvSpPr>
        <p:spPr>
          <a:xfrm>
            <a:off x="8092440" y="2880360"/>
            <a:ext cx="3337560" cy="2651760"/>
          </a:xfrm>
          <a:prstGeom prst="rect">
            <a:avLst/>
          </a:prstGeom>
          <a:noFill/>
        </p:spPr>
        <p:txBody>
          <a:bodyPr wrap="square" lIns="0" rIns="0" tIns="0" bIns="0">
            <a:spAutoFit/>
          </a:bodyPr>
          <a:lstStyle/>
          <a:p>
            <a:pPr>
              <a:spcAft>
                <a:spcPts val="700"/>
              </a:spcAft>
              <a:defRPr sz="1600" b="0">
                <a:solidFill>
                  <a:srgbClr val="58726A"/>
                </a:solidFill>
                <a:latin typeface="Noto Sans CJK KR"/>
              </a:defRPr>
            </a:pPr>
            <a:r>
              <a:t>연결 키 원문은 서버 DB에 저장하지 않습니다.</a:t>
            </a:r>
          </a:p>
          <a:p>
            <a:pPr>
              <a:spcAft>
                <a:spcPts val="700"/>
              </a:spcAft>
              <a:defRPr sz="1600" b="0">
                <a:solidFill>
                  <a:srgbClr val="58726A"/>
                </a:solidFill>
                <a:latin typeface="Noto Sans CJK KR"/>
              </a:defRPr>
            </a:pPr>
          </a:p>
          <a:p>
            <a:pPr>
              <a:spcAft>
                <a:spcPts val="700"/>
              </a:spcAft>
              <a:defRPr sz="1600" b="0">
                <a:solidFill>
                  <a:srgbClr val="58726A"/>
                </a:solidFill>
                <a:latin typeface="Noto Sans CJK KR"/>
              </a:defRPr>
            </a:pPr>
            <a:r>
              <a:t>조회·삭제에도 같은 키의 해시를 적용합니다.</a:t>
            </a:r>
          </a:p>
          <a:p>
            <a:pPr>
              <a:spcAft>
                <a:spcPts val="700"/>
              </a:spcAft>
              <a:defRPr sz="1600" b="0">
                <a:solidFill>
                  <a:srgbClr val="58726A"/>
                </a:solidFill>
                <a:latin typeface="Noto Sans CJK KR"/>
              </a:defRPr>
            </a:pPr>
          </a:p>
          <a:p>
            <a:pPr>
              <a:spcAft>
                <a:spcPts val="700"/>
              </a:spcAft>
              <a:defRPr sz="1600" b="0">
                <a:solidFill>
                  <a:srgbClr val="58726A"/>
                </a:solidFill>
                <a:latin typeface="Noto Sans CJK KR"/>
              </a:defRPr>
            </a:pPr>
            <a:r>
              <a:t>30초 확인, 만료 구독 삭제, 제한된 재시도로 상태를 관리합니다.</a:t>
            </a:r>
          </a:p>
        </p:txBody>
      </p:sp>
      <p:sp>
        <p:nvSpPr>
          <p:cNvPr id="10" name="Rounded Rectangle 9"/>
          <p:cNvSpPr/>
          <p:nvPr/>
        </p:nvSpPr>
        <p:spPr>
          <a:xfrm>
            <a:off x="621792" y="5833872"/>
            <a:ext cx="10954512" cy="438912"/>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916168"/>
            <a:ext cx="10561320" cy="2743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코드 위치: push-service.mjs · sw.js  ·  실제 핵심 구문을 축약·줄바꿈하여 표시</a:t>
            </a:r>
          </a:p>
        </p:txBody>
      </p:sp>
      <p:sp>
        <p:nvSpPr>
          <p:cNvPr id="12" name="Rectangle 11"/>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14" name="TextBox 13"/>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26 / 32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07 / 배포·환경 설정</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배포: GitHub main → Render Docker Web Service</a:t>
            </a:r>
          </a:p>
        </p:txBody>
      </p:sp>
      <p:sp>
        <p:nvSpPr>
          <p:cNvPr id="5" name="Rectangle 4"/>
          <p:cNvSpPr/>
          <p:nvPr/>
        </p:nvSpPr>
        <p:spPr>
          <a:xfrm>
            <a:off x="621792" y="2057400"/>
            <a:ext cx="1828800"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2148840"/>
            <a:ext cx="1591056"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영역</a:t>
            </a:r>
          </a:p>
        </p:txBody>
      </p:sp>
      <p:sp>
        <p:nvSpPr>
          <p:cNvPr id="7" name="Rectangle 6"/>
          <p:cNvSpPr/>
          <p:nvPr/>
        </p:nvSpPr>
        <p:spPr>
          <a:xfrm>
            <a:off x="2450592" y="2057400"/>
            <a:ext cx="5029200"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9464" y="2148840"/>
            <a:ext cx="4791456"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필수 설정</a:t>
            </a:r>
          </a:p>
        </p:txBody>
      </p:sp>
      <p:sp>
        <p:nvSpPr>
          <p:cNvPr id="9" name="Rectangle 8"/>
          <p:cNvSpPr/>
          <p:nvPr/>
        </p:nvSpPr>
        <p:spPr>
          <a:xfrm>
            <a:off x="7479792" y="2057400"/>
            <a:ext cx="4096512"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2148840"/>
            <a:ext cx="3858768"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확인 방법</a:t>
            </a:r>
          </a:p>
        </p:txBody>
      </p:sp>
      <p:sp>
        <p:nvSpPr>
          <p:cNvPr id="11" name="Rectangle 10"/>
          <p:cNvSpPr/>
          <p:nvPr/>
        </p:nvSpPr>
        <p:spPr>
          <a:xfrm>
            <a:off x="621792" y="2532888"/>
            <a:ext cx="18288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2642616"/>
            <a:ext cx="15910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기본 실행</a:t>
            </a:r>
          </a:p>
        </p:txBody>
      </p:sp>
      <p:sp>
        <p:nvSpPr>
          <p:cNvPr id="13" name="Rectangle 12"/>
          <p:cNvSpPr/>
          <p:nvPr/>
        </p:nvSpPr>
        <p:spPr>
          <a:xfrm>
            <a:off x="2450592" y="2532888"/>
            <a:ext cx="5029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9464" y="2642616"/>
            <a:ext cx="47914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Node 24 / npm ci / Docker / PORT</a:t>
            </a:r>
          </a:p>
        </p:txBody>
      </p:sp>
      <p:sp>
        <p:nvSpPr>
          <p:cNvPr id="15" name="Rectangle 14"/>
          <p:cNvSpPr/>
          <p:nvPr/>
        </p:nvSpPr>
        <p:spPr>
          <a:xfrm>
            <a:off x="7479792" y="2532888"/>
            <a:ext cx="409651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98664" y="2642616"/>
            <a:ext cx="385876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/healthz → status: ok</a:t>
            </a:r>
          </a:p>
        </p:txBody>
      </p:sp>
      <p:sp>
        <p:nvSpPr>
          <p:cNvPr id="17" name="Rectangle 16"/>
          <p:cNvSpPr/>
          <p:nvPr/>
        </p:nvSpPr>
        <p:spPr>
          <a:xfrm>
            <a:off x="621792" y="3172968"/>
            <a:ext cx="1828800"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3282696"/>
            <a:ext cx="15910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자막 API</a:t>
            </a:r>
          </a:p>
        </p:txBody>
      </p:sp>
      <p:sp>
        <p:nvSpPr>
          <p:cNvPr id="19" name="Rectangle 18"/>
          <p:cNvSpPr/>
          <p:nvPr/>
        </p:nvSpPr>
        <p:spPr>
          <a:xfrm>
            <a:off x="2450592" y="3172968"/>
            <a:ext cx="5029200"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9464" y="3282696"/>
            <a:ext cx="47914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TRANSCRIPT_PROVIDER / SUPADATA_API_KEY</a:t>
            </a:r>
          </a:p>
        </p:txBody>
      </p:sp>
      <p:sp>
        <p:nvSpPr>
          <p:cNvPr id="21" name="Rectangle 20"/>
          <p:cNvSpPr/>
          <p:nvPr/>
        </p:nvSpPr>
        <p:spPr>
          <a:xfrm>
            <a:off x="7479792" y="3172968"/>
            <a:ext cx="4096512"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98664" y="3282696"/>
            <a:ext cx="385876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공개 자막 영상·선택 언어로 조회</a:t>
            </a:r>
          </a:p>
        </p:txBody>
      </p:sp>
      <p:sp>
        <p:nvSpPr>
          <p:cNvPr id="23" name="Rectangle 22"/>
          <p:cNvSpPr/>
          <p:nvPr/>
        </p:nvSpPr>
        <p:spPr>
          <a:xfrm>
            <a:off x="621792" y="3813048"/>
            <a:ext cx="18288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 y="3922776"/>
            <a:ext cx="15910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Google Sheets</a:t>
            </a:r>
          </a:p>
        </p:txBody>
      </p:sp>
      <p:sp>
        <p:nvSpPr>
          <p:cNvPr id="25" name="Rectangle 24"/>
          <p:cNvSpPr/>
          <p:nvPr/>
        </p:nvSpPr>
        <p:spPr>
          <a:xfrm>
            <a:off x="2450592" y="3813048"/>
            <a:ext cx="5029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69464" y="3922776"/>
            <a:ext cx="47914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웹 OAuth ID / HTTPS 원본 / Sheets API 활성화</a:t>
            </a:r>
          </a:p>
        </p:txBody>
      </p:sp>
      <p:sp>
        <p:nvSpPr>
          <p:cNvPr id="27" name="Rectangle 26"/>
          <p:cNvSpPr/>
          <p:nvPr/>
        </p:nvSpPr>
        <p:spPr>
          <a:xfrm>
            <a:off x="7479792" y="3813048"/>
            <a:ext cx="409651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98664" y="3922776"/>
            <a:ext cx="385876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계정 연결 → 새 시트 저장·열기</a:t>
            </a:r>
          </a:p>
        </p:txBody>
      </p:sp>
      <p:sp>
        <p:nvSpPr>
          <p:cNvPr id="29" name="Rectangle 28"/>
          <p:cNvSpPr/>
          <p:nvPr/>
        </p:nvSpPr>
        <p:spPr>
          <a:xfrm>
            <a:off x="621792" y="4453127"/>
            <a:ext cx="1828800"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 y="4562855"/>
            <a:ext cx="15910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문장 알림</a:t>
            </a:r>
          </a:p>
        </p:txBody>
      </p:sp>
      <p:sp>
        <p:nvSpPr>
          <p:cNvPr id="31" name="Rectangle 30"/>
          <p:cNvSpPr/>
          <p:nvPr/>
        </p:nvSpPr>
        <p:spPr>
          <a:xfrm>
            <a:off x="2450592" y="4453127"/>
            <a:ext cx="5029200"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69464" y="4562855"/>
            <a:ext cx="47914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VAPID 3개 값 / PUSH_DATA_DIR=/var/data</a:t>
            </a:r>
          </a:p>
        </p:txBody>
      </p:sp>
      <p:sp>
        <p:nvSpPr>
          <p:cNvPr id="33" name="Rectangle 32"/>
          <p:cNvSpPr/>
          <p:nvPr/>
        </p:nvSpPr>
        <p:spPr>
          <a:xfrm>
            <a:off x="7479792" y="4453127"/>
            <a:ext cx="4096512"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98664" y="4562855"/>
            <a:ext cx="385876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/api/push/config → enabled: true</a:t>
            </a:r>
          </a:p>
        </p:txBody>
      </p:sp>
      <p:sp>
        <p:nvSpPr>
          <p:cNvPr id="35" name="Rectangle 34"/>
          <p:cNvSpPr/>
          <p:nvPr/>
        </p:nvSpPr>
        <p:spPr>
          <a:xfrm>
            <a:off x="621792" y="5093208"/>
            <a:ext cx="18288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664" y="5202936"/>
            <a:ext cx="15910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예약 유지</a:t>
            </a:r>
          </a:p>
        </p:txBody>
      </p:sp>
      <p:sp>
        <p:nvSpPr>
          <p:cNvPr id="37" name="Rectangle 36"/>
          <p:cNvSpPr/>
          <p:nvPr/>
        </p:nvSpPr>
        <p:spPr>
          <a:xfrm>
            <a:off x="2450592" y="5093208"/>
            <a:ext cx="5029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69464" y="5202936"/>
            <a:ext cx="479145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상시 실행 서비스 / 영구 Disk / 단일 인스턴스</a:t>
            </a:r>
          </a:p>
        </p:txBody>
      </p:sp>
      <p:sp>
        <p:nvSpPr>
          <p:cNvPr id="39" name="Rectangle 38"/>
          <p:cNvSpPr/>
          <p:nvPr/>
        </p:nvSpPr>
        <p:spPr>
          <a:xfrm>
            <a:off x="7479792" y="5093208"/>
            <a:ext cx="409651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98664" y="5202936"/>
            <a:ext cx="385876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재시작 후 예약·실제 아이폰 수신 확인</a:t>
            </a:r>
          </a:p>
        </p:txBody>
      </p:sp>
      <p:sp>
        <p:nvSpPr>
          <p:cNvPr id="41" name="Rounded Rectangle 40"/>
          <p:cNvSpPr/>
          <p:nvPr/>
        </p:nvSpPr>
        <p:spPr>
          <a:xfrm>
            <a:off x="621792" y="5833872"/>
            <a:ext cx="10954512" cy="438912"/>
          </a:xfrm>
          <a:prstGeom prst="roundRect">
            <a:avLst>
              <a:gd name="adj" fmla="val 14000"/>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916168"/>
            <a:ext cx="10561320" cy="274320"/>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GitHub 푸시 완료와 Render 배포 Live, 실제 외부 연동 성공은 각각 확인해야 합니다.</a:t>
            </a:r>
          </a:p>
        </p:txBody>
      </p:sp>
      <p:sp>
        <p:nvSpPr>
          <p:cNvPr id="43" name="Rectangle 42"/>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45" name="TextBox 44"/>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27 / 32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07 / 보안·권한</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보안·개인정보: 저장 위치와 권한 범위를 보이게 합니다.</a:t>
            </a:r>
          </a:p>
        </p:txBody>
      </p:sp>
      <p:sp>
        <p:nvSpPr>
          <p:cNvPr id="5" name="Rounded Rectangle 4"/>
          <p:cNvSpPr/>
          <p:nvPr/>
        </p:nvSpPr>
        <p:spPr>
          <a:xfrm>
            <a:off x="621792" y="2194560"/>
            <a:ext cx="3502152" cy="3273552"/>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2377440"/>
            <a:ext cx="3081528"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GOOGLE</a:t>
            </a:r>
          </a:p>
        </p:txBody>
      </p:sp>
      <p:sp>
        <p:nvSpPr>
          <p:cNvPr id="7" name="TextBox 6"/>
          <p:cNvSpPr txBox="1"/>
          <p:nvPr/>
        </p:nvSpPr>
        <p:spPr>
          <a:xfrm>
            <a:off x="832104" y="2852928"/>
            <a:ext cx="3081528"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최소 파일 권한</a:t>
            </a:r>
          </a:p>
        </p:txBody>
      </p:sp>
      <p:sp>
        <p:nvSpPr>
          <p:cNvPr id="8" name="TextBox 7"/>
          <p:cNvSpPr txBox="1"/>
          <p:nvPr/>
        </p:nvSpPr>
        <p:spPr>
          <a:xfrm>
            <a:off x="832104" y="3611880"/>
            <a:ext cx="3081528" cy="1737360"/>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drive.file 범위</a:t>
            </a:r>
          </a:p>
          <a:p>
            <a:pPr>
              <a:spcAft>
                <a:spcPts val="700"/>
              </a:spcAft>
              <a:defRPr sz="1500" b="0">
                <a:solidFill>
                  <a:srgbClr val="58726A"/>
                </a:solidFill>
                <a:latin typeface="Noto Sans CJK KR"/>
              </a:defRPr>
            </a:pPr>
            <a:r>
              <a:t>비밀번호를 앱에 저장하지 않음</a:t>
            </a:r>
          </a:p>
          <a:p>
            <a:pPr>
              <a:spcAft>
                <a:spcPts val="700"/>
              </a:spcAft>
              <a:defRPr sz="1500" b="0">
                <a:solidFill>
                  <a:srgbClr val="58726A"/>
                </a:solidFill>
                <a:latin typeface="Noto Sans CJK KR"/>
              </a:defRPr>
            </a:pPr>
            <a:r>
              <a:t>접근 토큰은 브라우저 메모리</a:t>
            </a:r>
          </a:p>
          <a:p>
            <a:pPr>
              <a:spcAft>
                <a:spcPts val="700"/>
              </a:spcAft>
              <a:defRPr sz="1500" b="0">
                <a:solidFill>
                  <a:srgbClr val="58726A"/>
                </a:solidFill>
                <a:latin typeface="Noto Sans CJK KR"/>
              </a:defRPr>
            </a:pPr>
            <a:r>
              <a:t>클라이언트 ID는 공개 식별자</a:t>
            </a:r>
          </a:p>
        </p:txBody>
      </p:sp>
      <p:sp>
        <p:nvSpPr>
          <p:cNvPr id="9" name="Rounded Rectangle 8"/>
          <p:cNvSpPr/>
          <p:nvPr/>
        </p:nvSpPr>
        <p:spPr>
          <a:xfrm>
            <a:off x="4343400" y="2194560"/>
            <a:ext cx="3502152" cy="3273552"/>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2377440"/>
            <a:ext cx="3081528"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SERVER</a:t>
            </a:r>
          </a:p>
        </p:txBody>
      </p:sp>
      <p:sp>
        <p:nvSpPr>
          <p:cNvPr id="11" name="TextBox 10"/>
          <p:cNvSpPr txBox="1"/>
          <p:nvPr/>
        </p:nvSpPr>
        <p:spPr>
          <a:xfrm>
            <a:off x="4553712" y="2852928"/>
            <a:ext cx="3081528"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비밀 키와 입력 검증</a:t>
            </a:r>
          </a:p>
        </p:txBody>
      </p:sp>
      <p:sp>
        <p:nvSpPr>
          <p:cNvPr id="12" name="TextBox 11"/>
          <p:cNvSpPr txBox="1"/>
          <p:nvPr/>
        </p:nvSpPr>
        <p:spPr>
          <a:xfrm>
            <a:off x="4553712" y="3611880"/>
            <a:ext cx="3081528" cy="1737360"/>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Supadata·VAPID 키는 환경 변수</a:t>
            </a:r>
          </a:p>
          <a:p>
            <a:pPr>
              <a:spcAft>
                <a:spcPts val="700"/>
              </a:spcAft>
              <a:defRPr sz="1500" b="0">
                <a:solidFill>
                  <a:srgbClr val="58726A"/>
                </a:solidFill>
                <a:latin typeface="Noto Sans CJK KR"/>
              </a:defRPr>
            </a:pPr>
            <a:r>
              <a:t>정적 파일 경로 허용 목록</a:t>
            </a:r>
          </a:p>
          <a:p>
            <a:pPr>
              <a:spcAft>
                <a:spcPts val="700"/>
              </a:spcAft>
              <a:defRPr sz="1500" b="0">
                <a:solidFill>
                  <a:srgbClr val="58726A"/>
                </a:solidFill>
                <a:latin typeface="Noto Sans CJK KR"/>
              </a:defRPr>
            </a:pPr>
            <a:r>
              <a:t>자막·푸시 요청 크기·횟수 제한</a:t>
            </a:r>
          </a:p>
          <a:p>
            <a:pPr>
              <a:spcAft>
                <a:spcPts val="700"/>
              </a:spcAft>
              <a:defRPr sz="1500" b="0">
                <a:solidFill>
                  <a:srgbClr val="58726A"/>
                </a:solidFill>
                <a:latin typeface="Noto Sans CJK KR"/>
              </a:defRPr>
            </a:pPr>
            <a:r>
              <a:t>푸시 대상 HTTPS 도메인 검증</a:t>
            </a:r>
          </a:p>
        </p:txBody>
      </p:sp>
      <p:sp>
        <p:nvSpPr>
          <p:cNvPr id="13" name="Rounded Rectangle 12"/>
          <p:cNvSpPr/>
          <p:nvPr/>
        </p:nvSpPr>
        <p:spPr>
          <a:xfrm>
            <a:off x="8065008" y="2194560"/>
            <a:ext cx="3502152" cy="3273552"/>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377440"/>
            <a:ext cx="3081528"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DATA</a:t>
            </a:r>
          </a:p>
        </p:txBody>
      </p:sp>
      <p:sp>
        <p:nvSpPr>
          <p:cNvPr id="15" name="TextBox 14"/>
          <p:cNvSpPr txBox="1"/>
          <p:nvPr/>
        </p:nvSpPr>
        <p:spPr>
          <a:xfrm>
            <a:off x="8275320" y="2852928"/>
            <a:ext cx="3081528" cy="685800"/>
          </a:xfrm>
          <a:prstGeom prst="rect">
            <a:avLst/>
          </a:prstGeom>
          <a:noFill/>
        </p:spPr>
        <p:txBody>
          <a:bodyPr wrap="square" lIns="0" rIns="0" tIns="0" bIns="0">
            <a:spAutoFit/>
          </a:bodyPr>
          <a:lstStyle/>
          <a:p>
            <a:pPr>
              <a:spcAft>
                <a:spcPts val="700"/>
              </a:spcAft>
              <a:defRPr sz="2000" b="1">
                <a:solidFill>
                  <a:srgbClr val="173A35"/>
                </a:solidFill>
                <a:latin typeface="Noto Sans CJK KR"/>
              </a:defRPr>
            </a:pPr>
            <a:r>
              <a:t>사용자가 통제</a:t>
            </a:r>
          </a:p>
        </p:txBody>
      </p:sp>
      <p:sp>
        <p:nvSpPr>
          <p:cNvPr id="16" name="TextBox 15"/>
          <p:cNvSpPr txBox="1"/>
          <p:nvPr/>
        </p:nvSpPr>
        <p:spPr>
          <a:xfrm>
            <a:off x="8275320" y="3611880"/>
            <a:ext cx="3081528" cy="1737360"/>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녹음은 브라우저에만 저장</a:t>
            </a:r>
          </a:p>
          <a:p>
            <a:pPr>
              <a:spcAft>
                <a:spcPts val="700"/>
              </a:spcAft>
              <a:defRPr sz="1500" b="0">
                <a:solidFill>
                  <a:srgbClr val="58726A"/>
                </a:solidFill>
                <a:latin typeface="Noto Sans CJK KR"/>
              </a:defRPr>
            </a:pPr>
            <a:r>
              <a:t>예약한 문장 사본은 서버 저장</a:t>
            </a:r>
          </a:p>
          <a:p>
            <a:pPr>
              <a:spcAft>
                <a:spcPts val="700"/>
              </a:spcAft>
              <a:defRPr sz="1500" b="0">
                <a:solidFill>
                  <a:srgbClr val="58726A"/>
                </a:solidFill>
                <a:latin typeface="Noto Sans CJK KR"/>
              </a:defRPr>
            </a:pPr>
            <a:r>
              <a:t>푸시 연결 키는 비밀번호처럼 관리</a:t>
            </a:r>
          </a:p>
          <a:p>
            <a:pPr>
              <a:spcAft>
                <a:spcPts val="700"/>
              </a:spcAft>
              <a:defRPr sz="1500" b="0">
                <a:solidFill>
                  <a:srgbClr val="58726A"/>
                </a:solidFill>
                <a:latin typeface="Noto Sans CJK KR"/>
              </a:defRPr>
            </a:pPr>
            <a:r>
              <a:t>서버 DB 앱 수준 암호화는 없음</a:t>
            </a:r>
          </a:p>
        </p:txBody>
      </p:sp>
      <p:sp>
        <p:nvSpPr>
          <p:cNvPr id="17" name="Rectangle 16"/>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19" name="TextBox 18"/>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28 / 32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07 / 테스트·품질</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검증: 저장·권한·모바일 회귀를 함께 확인합니다.</a:t>
            </a:r>
          </a:p>
        </p:txBody>
      </p:sp>
      <p:sp>
        <p:nvSpPr>
          <p:cNvPr id="5" name="Rounded Rectangle 4"/>
          <p:cNvSpPr/>
          <p:nvPr/>
        </p:nvSpPr>
        <p:spPr>
          <a:xfrm>
            <a:off x="685800" y="2194560"/>
            <a:ext cx="3200400" cy="1481328"/>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350008"/>
            <a:ext cx="2651760" cy="667512"/>
          </a:xfrm>
          <a:prstGeom prst="rect">
            <a:avLst/>
          </a:prstGeom>
          <a:noFill/>
        </p:spPr>
        <p:txBody>
          <a:bodyPr wrap="square" lIns="0" rIns="0" tIns="0" bIns="0">
            <a:spAutoFit/>
          </a:bodyPr>
          <a:lstStyle/>
          <a:p>
            <a:pPr>
              <a:spcAft>
                <a:spcPts val="700"/>
              </a:spcAft>
              <a:defRPr sz="3800" b="1">
                <a:solidFill>
                  <a:srgbClr val="6EA89E"/>
                </a:solidFill>
                <a:latin typeface="Noto Sans CJK KR"/>
              </a:defRPr>
            </a:pPr>
            <a:r>
              <a:t>41</a:t>
            </a:r>
          </a:p>
        </p:txBody>
      </p:sp>
      <p:sp>
        <p:nvSpPr>
          <p:cNvPr id="7" name="TextBox 6"/>
          <p:cNvSpPr txBox="1"/>
          <p:nvPr/>
        </p:nvSpPr>
        <p:spPr>
          <a:xfrm>
            <a:off x="914400" y="3154680"/>
            <a:ext cx="2743200" cy="274320"/>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Node 자동 테스트</a:t>
            </a:r>
          </a:p>
        </p:txBody>
      </p:sp>
      <p:sp>
        <p:nvSpPr>
          <p:cNvPr id="8" name="Rounded Rectangle 7"/>
          <p:cNvSpPr/>
          <p:nvPr/>
        </p:nvSpPr>
        <p:spPr>
          <a:xfrm>
            <a:off x="4526280" y="2194560"/>
            <a:ext cx="3200400" cy="1481328"/>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350008"/>
            <a:ext cx="2651760" cy="667512"/>
          </a:xfrm>
          <a:prstGeom prst="rect">
            <a:avLst/>
          </a:prstGeom>
          <a:noFill/>
        </p:spPr>
        <p:txBody>
          <a:bodyPr wrap="square" lIns="0" rIns="0" tIns="0" bIns="0">
            <a:spAutoFit/>
          </a:bodyPr>
          <a:lstStyle/>
          <a:p>
            <a:pPr>
              <a:spcAft>
                <a:spcPts val="700"/>
              </a:spcAft>
              <a:defRPr sz="3800" b="1">
                <a:solidFill>
                  <a:srgbClr val="6EA89E"/>
                </a:solidFill>
                <a:latin typeface="Noto Sans CJK KR"/>
              </a:defRPr>
            </a:pPr>
            <a:r>
              <a:t>6</a:t>
            </a:r>
          </a:p>
        </p:txBody>
      </p:sp>
      <p:sp>
        <p:nvSpPr>
          <p:cNvPr id="10" name="TextBox 9"/>
          <p:cNvSpPr txBox="1"/>
          <p:nvPr/>
        </p:nvSpPr>
        <p:spPr>
          <a:xfrm>
            <a:off x="4754880" y="3154680"/>
            <a:ext cx="2743200" cy="274320"/>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Python 자동 테스트</a:t>
            </a:r>
          </a:p>
        </p:txBody>
      </p:sp>
      <p:sp>
        <p:nvSpPr>
          <p:cNvPr id="11" name="Rounded Rectangle 10"/>
          <p:cNvSpPr/>
          <p:nvPr/>
        </p:nvSpPr>
        <p:spPr>
          <a:xfrm>
            <a:off x="8348472" y="2194560"/>
            <a:ext cx="3200400" cy="1481328"/>
          </a:xfrm>
          <a:prstGeom prst="roundRect">
            <a:avLst>
              <a:gd name="adj" fmla="val 14000"/>
            </a:avLst>
          </a:prstGeom>
          <a:solidFill>
            <a:srgbClr val="FFFFFF"/>
          </a:solidFill>
          <a:ln>
            <a:solidFill>
              <a:srgbClr val="D7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77072" y="2350008"/>
            <a:ext cx="2651760" cy="667512"/>
          </a:xfrm>
          <a:prstGeom prst="rect">
            <a:avLst/>
          </a:prstGeom>
          <a:noFill/>
        </p:spPr>
        <p:txBody>
          <a:bodyPr wrap="square" lIns="0" rIns="0" tIns="0" bIns="0">
            <a:spAutoFit/>
          </a:bodyPr>
          <a:lstStyle/>
          <a:p>
            <a:pPr>
              <a:spcAft>
                <a:spcPts val="700"/>
              </a:spcAft>
              <a:defRPr sz="3800" b="1">
                <a:solidFill>
                  <a:srgbClr val="6EA89E"/>
                </a:solidFill>
                <a:latin typeface="Noto Sans CJK KR"/>
              </a:defRPr>
            </a:pPr>
            <a:r>
              <a:t>5</a:t>
            </a:r>
          </a:p>
        </p:txBody>
      </p:sp>
      <p:sp>
        <p:nvSpPr>
          <p:cNvPr id="13" name="TextBox 12"/>
          <p:cNvSpPr txBox="1"/>
          <p:nvPr/>
        </p:nvSpPr>
        <p:spPr>
          <a:xfrm>
            <a:off x="8577072" y="3154680"/>
            <a:ext cx="2743200" cy="274320"/>
          </a:xfrm>
          <a:prstGeom prst="rect">
            <a:avLst/>
          </a:prstGeom>
          <a:noFill/>
        </p:spPr>
        <p:txBody>
          <a:bodyPr wrap="square" lIns="0" rIns="0" tIns="0" bIns="0">
            <a:spAutoFit/>
          </a:bodyPr>
          <a:lstStyle/>
          <a:p>
            <a:pPr>
              <a:spcAft>
                <a:spcPts val="700"/>
              </a:spcAft>
              <a:defRPr sz="1400" b="0">
                <a:solidFill>
                  <a:srgbClr val="58726A"/>
                </a:solidFill>
                <a:latin typeface="Noto Sans CJK KR"/>
              </a:defRPr>
            </a:pPr>
            <a:r>
              <a:t>반응형 화면 폭</a:t>
            </a:r>
          </a:p>
        </p:txBody>
      </p:sp>
      <p:sp>
        <p:nvSpPr>
          <p:cNvPr id="14" name="Rectangle 13"/>
          <p:cNvSpPr/>
          <p:nvPr/>
        </p:nvSpPr>
        <p:spPr>
          <a:xfrm>
            <a:off x="822960" y="4187952"/>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114800"/>
            <a:ext cx="10314432" cy="292608"/>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Chromium 브라우저 검사</a:t>
            </a:r>
          </a:p>
        </p:txBody>
      </p:sp>
      <p:sp>
        <p:nvSpPr>
          <p:cNvPr id="16" name="TextBox 15"/>
          <p:cNvSpPr txBox="1"/>
          <p:nvPr/>
        </p:nvSpPr>
        <p:spPr>
          <a:xfrm>
            <a:off x="1024128" y="4471416"/>
            <a:ext cx="10314432" cy="411480"/>
          </a:xfrm>
          <a:prstGeom prst="rect">
            <a:avLst/>
          </a:prstGeom>
          <a:noFill/>
        </p:spPr>
        <p:txBody>
          <a:bodyPr wrap="square" lIns="0" rIns="0" tIns="0" bIns="0">
            <a:spAutoFit/>
          </a:bodyPr>
          <a:lstStyle/>
          <a:p>
            <a:pPr>
              <a:spcAft>
                <a:spcPts val="700"/>
              </a:spcAft>
              <a:defRPr sz="1300" b="0">
                <a:solidFill>
                  <a:srgbClr val="58726A"/>
                </a:solidFill>
                <a:latin typeface="Noto Sans CJK KR"/>
              </a:defRPr>
            </a:pPr>
            <a:r>
              <a:t>카드 삭제 취소/확인, 모바일 터치 수집·삭제, 중복 안내, 녹음 보관함 저장·재접속·삭제</a:t>
            </a:r>
          </a:p>
        </p:txBody>
      </p:sp>
      <p:sp>
        <p:nvSpPr>
          <p:cNvPr id="17" name="Rectangle 16"/>
          <p:cNvSpPr/>
          <p:nvPr/>
        </p:nvSpPr>
        <p:spPr>
          <a:xfrm>
            <a:off x="822960" y="4983480"/>
            <a:ext cx="68580" cy="173736"/>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910328"/>
            <a:ext cx="10314432" cy="292608"/>
          </a:xfrm>
          <a:prstGeom prst="rect">
            <a:avLst/>
          </a:prstGeom>
          <a:noFill/>
        </p:spPr>
        <p:txBody>
          <a:bodyPr wrap="square" lIns="0" rIns="0" tIns="0" bIns="0">
            <a:spAutoFit/>
          </a:bodyPr>
          <a:lstStyle/>
          <a:p>
            <a:pPr>
              <a:spcAft>
                <a:spcPts val="700"/>
              </a:spcAft>
              <a:defRPr sz="1600" b="1">
                <a:solidFill>
                  <a:srgbClr val="173A35"/>
                </a:solidFill>
                <a:latin typeface="Noto Sans CJK KR"/>
              </a:defRPr>
            </a:pPr>
            <a:r>
              <a:t>검증의 범위</a:t>
            </a:r>
          </a:p>
        </p:txBody>
      </p:sp>
      <p:sp>
        <p:nvSpPr>
          <p:cNvPr id="19" name="TextBox 18"/>
          <p:cNvSpPr txBox="1"/>
          <p:nvPr/>
        </p:nvSpPr>
        <p:spPr>
          <a:xfrm>
            <a:off x="1024128" y="5266944"/>
            <a:ext cx="10314432" cy="411480"/>
          </a:xfrm>
          <a:prstGeom prst="rect">
            <a:avLst/>
          </a:prstGeom>
          <a:noFill/>
        </p:spPr>
        <p:txBody>
          <a:bodyPr wrap="square" lIns="0" rIns="0" tIns="0" bIns="0">
            <a:spAutoFit/>
          </a:bodyPr>
          <a:lstStyle/>
          <a:p>
            <a:pPr>
              <a:spcAft>
                <a:spcPts val="700"/>
              </a:spcAft>
              <a:defRPr sz="1300" b="0">
                <a:solidFill>
                  <a:srgbClr val="58726A"/>
                </a:solidFill>
                <a:latin typeface="Noto Sans CJK KR"/>
              </a:defRPr>
            </a:pPr>
            <a:r>
              <a:t>마이크·Google·자막 API는 모의 응답을 포함합니다. 실물 iPhone과 실제 계정·푸시 수신은 별도 확인합니다.</a:t>
            </a:r>
          </a:p>
        </p:txBody>
      </p:sp>
      <p:sp>
        <p:nvSpPr>
          <p:cNvPr id="20" name="Rectangle 19"/>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22" name="TextBox 21"/>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29 / 32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07 / 한계·개선 방향</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운영에서 남은 확인과 다음 확장 우선순위</a:t>
            </a:r>
          </a:p>
        </p:txBody>
      </p:sp>
      <p:sp>
        <p:nvSpPr>
          <p:cNvPr id="5" name="Rectangle 4"/>
          <p:cNvSpPr/>
          <p:nvPr/>
        </p:nvSpPr>
        <p:spPr>
          <a:xfrm>
            <a:off x="621792" y="2057400"/>
            <a:ext cx="1920240"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2148840"/>
            <a:ext cx="1682496"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우선순위</a:t>
            </a:r>
          </a:p>
        </p:txBody>
      </p:sp>
      <p:sp>
        <p:nvSpPr>
          <p:cNvPr id="7" name="Rectangle 6"/>
          <p:cNvSpPr/>
          <p:nvPr/>
        </p:nvSpPr>
        <p:spPr>
          <a:xfrm>
            <a:off x="2542032" y="2057400"/>
            <a:ext cx="5760720"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60904" y="2148840"/>
            <a:ext cx="5522976"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내용</a:t>
            </a:r>
          </a:p>
        </p:txBody>
      </p:sp>
      <p:sp>
        <p:nvSpPr>
          <p:cNvPr id="9" name="Rectangle 8"/>
          <p:cNvSpPr/>
          <p:nvPr/>
        </p:nvSpPr>
        <p:spPr>
          <a:xfrm>
            <a:off x="8302752" y="2057400"/>
            <a:ext cx="3273552"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21624" y="2148840"/>
            <a:ext cx="3035808"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현재 상태</a:t>
            </a:r>
          </a:p>
        </p:txBody>
      </p:sp>
      <p:sp>
        <p:nvSpPr>
          <p:cNvPr id="11" name="Rectangle 10"/>
          <p:cNvSpPr/>
          <p:nvPr/>
        </p:nvSpPr>
        <p:spPr>
          <a:xfrm>
            <a:off x="621792" y="2532888"/>
            <a:ext cx="192024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2642616"/>
            <a:ext cx="168249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P0 · 운영 검증</a:t>
            </a:r>
          </a:p>
        </p:txBody>
      </p:sp>
      <p:sp>
        <p:nvSpPr>
          <p:cNvPr id="13" name="Rectangle 12"/>
          <p:cNvSpPr/>
          <p:nvPr/>
        </p:nvSpPr>
        <p:spPr>
          <a:xfrm>
            <a:off x="2542032" y="2532888"/>
            <a:ext cx="576072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60904" y="2642616"/>
            <a:ext cx="552297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Render 최신 배포 / Sheets 실데이터 / 자막 제공자 응답</a:t>
            </a:r>
          </a:p>
        </p:txBody>
      </p:sp>
      <p:sp>
        <p:nvSpPr>
          <p:cNvPr id="15" name="Rectangle 14"/>
          <p:cNvSpPr/>
          <p:nvPr/>
        </p:nvSpPr>
        <p:spPr>
          <a:xfrm>
            <a:off x="8302752" y="2532888"/>
            <a:ext cx="32735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21624" y="2642616"/>
            <a:ext cx="303580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실제 계정·배포 환경에서 확인 필요</a:t>
            </a:r>
          </a:p>
        </p:txBody>
      </p:sp>
      <p:sp>
        <p:nvSpPr>
          <p:cNvPr id="17" name="Rectangle 16"/>
          <p:cNvSpPr/>
          <p:nvPr/>
        </p:nvSpPr>
        <p:spPr>
          <a:xfrm>
            <a:off x="621792" y="3172968"/>
            <a:ext cx="1920240"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3282696"/>
            <a:ext cx="168249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P0 · 아이폰 검증</a:t>
            </a:r>
          </a:p>
        </p:txBody>
      </p:sp>
      <p:sp>
        <p:nvSpPr>
          <p:cNvPr id="19" name="Rectangle 18"/>
          <p:cNvSpPr/>
          <p:nvPr/>
        </p:nvSpPr>
        <p:spPr>
          <a:xfrm>
            <a:off x="2542032" y="3172968"/>
            <a:ext cx="5760720"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60904" y="3282696"/>
            <a:ext cx="552297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마이크 녹음·재생 / 홈 화면 설치 / 푸시 실수신</a:t>
            </a:r>
          </a:p>
        </p:txBody>
      </p:sp>
      <p:sp>
        <p:nvSpPr>
          <p:cNvPr id="21" name="Rectangle 20"/>
          <p:cNvSpPr/>
          <p:nvPr/>
        </p:nvSpPr>
        <p:spPr>
          <a:xfrm>
            <a:off x="8302752" y="3172968"/>
            <a:ext cx="3273552"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21624" y="3282696"/>
            <a:ext cx="303580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브라우저 모의 검사와 별도</a:t>
            </a:r>
          </a:p>
        </p:txBody>
      </p:sp>
      <p:sp>
        <p:nvSpPr>
          <p:cNvPr id="23" name="Rectangle 22"/>
          <p:cNvSpPr/>
          <p:nvPr/>
        </p:nvSpPr>
        <p:spPr>
          <a:xfrm>
            <a:off x="621792" y="3813048"/>
            <a:ext cx="192024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 y="3922776"/>
            <a:ext cx="168249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P1 · 데이터 연결</a:t>
            </a:r>
          </a:p>
        </p:txBody>
      </p:sp>
      <p:sp>
        <p:nvSpPr>
          <p:cNvPr id="25" name="Rectangle 24"/>
          <p:cNvSpPr/>
          <p:nvPr/>
        </p:nvSpPr>
        <p:spPr>
          <a:xfrm>
            <a:off x="2542032" y="3813048"/>
            <a:ext cx="576072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60904" y="3922776"/>
            <a:ext cx="552297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로그인·사용자별 클라우드 DB·기기 간 동기화</a:t>
            </a:r>
          </a:p>
        </p:txBody>
      </p:sp>
      <p:sp>
        <p:nvSpPr>
          <p:cNvPr id="27" name="Rectangle 26"/>
          <p:cNvSpPr/>
          <p:nvPr/>
        </p:nvSpPr>
        <p:spPr>
          <a:xfrm>
            <a:off x="8302752" y="3813048"/>
            <a:ext cx="32735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21624" y="3922776"/>
            <a:ext cx="303580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현재 전체 자료는 브라우저별 분리</a:t>
            </a:r>
          </a:p>
        </p:txBody>
      </p:sp>
      <p:sp>
        <p:nvSpPr>
          <p:cNvPr id="29" name="Rectangle 28"/>
          <p:cNvSpPr/>
          <p:nvPr/>
        </p:nvSpPr>
        <p:spPr>
          <a:xfrm>
            <a:off x="621792" y="4453127"/>
            <a:ext cx="1920240"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 y="4562855"/>
            <a:ext cx="168249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P1 · 운영 안정성</a:t>
            </a:r>
          </a:p>
        </p:txBody>
      </p:sp>
      <p:sp>
        <p:nvSpPr>
          <p:cNvPr id="31" name="Rectangle 30"/>
          <p:cNvSpPr/>
          <p:nvPr/>
        </p:nvSpPr>
        <p:spPr>
          <a:xfrm>
            <a:off x="2542032" y="4453127"/>
            <a:ext cx="5760720"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60904" y="4562855"/>
            <a:ext cx="552297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공유 DB·전용 작업자·모니터링·백업</a:t>
            </a:r>
          </a:p>
        </p:txBody>
      </p:sp>
      <p:sp>
        <p:nvSpPr>
          <p:cNvPr id="33" name="Rectangle 32"/>
          <p:cNvSpPr/>
          <p:nvPr/>
        </p:nvSpPr>
        <p:spPr>
          <a:xfrm>
            <a:off x="8302752" y="4453127"/>
            <a:ext cx="3273552" cy="640080"/>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21624" y="4562855"/>
            <a:ext cx="303580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현재 SQLite 단일 인스턴스 기준</a:t>
            </a:r>
          </a:p>
        </p:txBody>
      </p:sp>
      <p:sp>
        <p:nvSpPr>
          <p:cNvPr id="35" name="Rectangle 34"/>
          <p:cNvSpPr/>
          <p:nvPr/>
        </p:nvSpPr>
        <p:spPr>
          <a:xfrm>
            <a:off x="621792" y="5093208"/>
            <a:ext cx="192024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664" y="5202936"/>
            <a:ext cx="168249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P2 · 학습 확장</a:t>
            </a:r>
          </a:p>
        </p:txBody>
      </p:sp>
      <p:sp>
        <p:nvSpPr>
          <p:cNvPr id="37" name="Rectangle 36"/>
          <p:cNvSpPr/>
          <p:nvPr/>
        </p:nvSpPr>
        <p:spPr>
          <a:xfrm>
            <a:off x="2542032" y="5093208"/>
            <a:ext cx="576072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660904" y="5202936"/>
            <a:ext cx="5522976"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간격 반복·AI 해설·발음 피드백·캡처</a:t>
            </a:r>
          </a:p>
        </p:txBody>
      </p:sp>
      <p:sp>
        <p:nvSpPr>
          <p:cNvPr id="39" name="Rectangle 38"/>
          <p:cNvSpPr/>
          <p:nvPr/>
        </p:nvSpPr>
        <p:spPr>
          <a:xfrm>
            <a:off x="8302752" y="5093208"/>
            <a:ext cx="32735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21624" y="5202936"/>
            <a:ext cx="3035808" cy="521207"/>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현재 미구현 / 별도 기획·비용 검토</a:t>
            </a:r>
          </a:p>
        </p:txBody>
      </p:sp>
      <p:sp>
        <p:nvSpPr>
          <p:cNvPr id="41" name="Rectangle 40"/>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43" name="TextBox 42"/>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30 / 32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08 / 개발·운영 인수인계</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소스 코드와 설정 문서 찾아보기</a:t>
            </a:r>
          </a:p>
        </p:txBody>
      </p:sp>
      <p:sp>
        <p:nvSpPr>
          <p:cNvPr id="5" name="Rectangle 4"/>
          <p:cNvSpPr/>
          <p:nvPr/>
        </p:nvSpPr>
        <p:spPr>
          <a:xfrm>
            <a:off x="621792" y="2057400"/>
            <a:ext cx="5486400"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2148840"/>
            <a:ext cx="5248656"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파일</a:t>
            </a:r>
          </a:p>
        </p:txBody>
      </p:sp>
      <p:sp>
        <p:nvSpPr>
          <p:cNvPr id="7" name="Rectangle 6"/>
          <p:cNvSpPr/>
          <p:nvPr/>
        </p:nvSpPr>
        <p:spPr>
          <a:xfrm>
            <a:off x="6108192" y="2057400"/>
            <a:ext cx="5468112" cy="475488"/>
          </a:xfrm>
          <a:prstGeom prst="rect">
            <a:avLst/>
          </a:prstGeom>
          <a:solidFill>
            <a:srgbClr val="173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27064" y="2148840"/>
            <a:ext cx="5230368" cy="292608"/>
          </a:xfrm>
          <a:prstGeom prst="rect">
            <a:avLst/>
          </a:prstGeom>
          <a:noFill/>
        </p:spPr>
        <p:txBody>
          <a:bodyPr wrap="square" lIns="0" rIns="0" tIns="0" bIns="0">
            <a:spAutoFit/>
          </a:bodyPr>
          <a:lstStyle/>
          <a:p>
            <a:pPr>
              <a:spcAft>
                <a:spcPts val="700"/>
              </a:spcAft>
              <a:defRPr sz="1200" b="1">
                <a:solidFill>
                  <a:srgbClr val="FFFFFF"/>
                </a:solidFill>
                <a:latin typeface="Noto Sans CJK KR"/>
              </a:defRPr>
            </a:pPr>
            <a:r>
              <a:t>담당 기능</a:t>
            </a:r>
          </a:p>
        </p:txBody>
      </p:sp>
      <p:sp>
        <p:nvSpPr>
          <p:cNvPr id="9" name="Rectangle 8"/>
          <p:cNvSpPr/>
          <p:nvPr/>
        </p:nvSpPr>
        <p:spPr>
          <a:xfrm>
            <a:off x="621792" y="2532888"/>
            <a:ext cx="5486400" cy="5577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 y="2642616"/>
            <a:ext cx="5248656" cy="438912"/>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src/app.js / src/core.js</a:t>
            </a:r>
          </a:p>
        </p:txBody>
      </p:sp>
      <p:sp>
        <p:nvSpPr>
          <p:cNvPr id="11" name="Rectangle 10"/>
          <p:cNvSpPr/>
          <p:nvPr/>
        </p:nvSpPr>
        <p:spPr>
          <a:xfrm>
            <a:off x="6108192" y="2532888"/>
            <a:ext cx="5468112" cy="5577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7064" y="2642616"/>
            <a:ext cx="5230368" cy="438912"/>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화면·IndexedDB·카드 / 날짜·복습·URL·자막 파싱</a:t>
            </a:r>
          </a:p>
        </p:txBody>
      </p:sp>
      <p:sp>
        <p:nvSpPr>
          <p:cNvPr id="13" name="Rectangle 12"/>
          <p:cNvSpPr/>
          <p:nvPr/>
        </p:nvSpPr>
        <p:spPr>
          <a:xfrm>
            <a:off x="621792" y="3090672"/>
            <a:ext cx="5486400" cy="557784"/>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3200400"/>
            <a:ext cx="5248656" cy="438912"/>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src/transcript-workspace.js</a:t>
            </a:r>
          </a:p>
        </p:txBody>
      </p:sp>
      <p:sp>
        <p:nvSpPr>
          <p:cNvPr id="15" name="Rectangle 14"/>
          <p:cNvSpPr/>
          <p:nvPr/>
        </p:nvSpPr>
        <p:spPr>
          <a:xfrm>
            <a:off x="6108192" y="3090672"/>
            <a:ext cx="5468112" cy="557784"/>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27064" y="3200400"/>
            <a:ext cx="5230368" cy="438912"/>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부분 선택·형광펜·드래그 수집·모바일 메모판</a:t>
            </a:r>
          </a:p>
        </p:txBody>
      </p:sp>
      <p:sp>
        <p:nvSpPr>
          <p:cNvPr id="17" name="Rectangle 16"/>
          <p:cNvSpPr/>
          <p:nvPr/>
        </p:nvSpPr>
        <p:spPr>
          <a:xfrm>
            <a:off x="621792" y="3648456"/>
            <a:ext cx="5486400" cy="5577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3758184"/>
            <a:ext cx="5248656" cy="438912"/>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src/archive-recorder.js / src/recording-ui.js</a:t>
            </a:r>
          </a:p>
        </p:txBody>
      </p:sp>
      <p:sp>
        <p:nvSpPr>
          <p:cNvPr id="19" name="Rectangle 18"/>
          <p:cNvSpPr/>
          <p:nvPr/>
        </p:nvSpPr>
        <p:spPr>
          <a:xfrm>
            <a:off x="6108192" y="3648456"/>
            <a:ext cx="5468112" cy="5577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27064" y="3758184"/>
            <a:ext cx="5230368" cy="438912"/>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보관함 직접 녹음·상태 관리 / 마이크 아이콘</a:t>
            </a:r>
          </a:p>
        </p:txBody>
      </p:sp>
      <p:sp>
        <p:nvSpPr>
          <p:cNvPr id="21" name="Rectangle 20"/>
          <p:cNvSpPr/>
          <p:nvPr/>
        </p:nvSpPr>
        <p:spPr>
          <a:xfrm>
            <a:off x="621792" y="4206240"/>
            <a:ext cx="5486400" cy="557784"/>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4315968"/>
            <a:ext cx="5248656" cy="438912"/>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src/google-sheets.js / youtube-transcript.mjs</a:t>
            </a:r>
          </a:p>
        </p:txBody>
      </p:sp>
      <p:sp>
        <p:nvSpPr>
          <p:cNvPr id="23" name="Rectangle 22"/>
          <p:cNvSpPr/>
          <p:nvPr/>
        </p:nvSpPr>
        <p:spPr>
          <a:xfrm>
            <a:off x="6108192" y="4206240"/>
            <a:ext cx="5468112" cy="557784"/>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7064" y="4315968"/>
            <a:ext cx="5230368" cy="438912"/>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OAuth·Sheets 내보내기 / 자막 제공자 선택</a:t>
            </a:r>
          </a:p>
        </p:txBody>
      </p:sp>
      <p:sp>
        <p:nvSpPr>
          <p:cNvPr id="25" name="Rectangle 24"/>
          <p:cNvSpPr/>
          <p:nvPr/>
        </p:nvSpPr>
        <p:spPr>
          <a:xfrm>
            <a:off x="621792" y="4764024"/>
            <a:ext cx="5486400" cy="5577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0664" y="4873752"/>
            <a:ext cx="5248656" cy="438912"/>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push-service.mjs / src/push-notifications.js / sw.js</a:t>
            </a:r>
          </a:p>
        </p:txBody>
      </p:sp>
      <p:sp>
        <p:nvSpPr>
          <p:cNvPr id="27" name="Rectangle 26"/>
          <p:cNvSpPr/>
          <p:nvPr/>
        </p:nvSpPr>
        <p:spPr>
          <a:xfrm>
            <a:off x="6108192" y="4764024"/>
            <a:ext cx="5468112" cy="5577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27064" y="4873752"/>
            <a:ext cx="5230368" cy="438912"/>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예약 DB·전송 / 기기 연결 UI / 알림 수신·열기</a:t>
            </a:r>
          </a:p>
        </p:txBody>
      </p:sp>
      <p:sp>
        <p:nvSpPr>
          <p:cNvPr id="29" name="Rectangle 28"/>
          <p:cNvSpPr/>
          <p:nvPr/>
        </p:nvSpPr>
        <p:spPr>
          <a:xfrm>
            <a:off x="621792" y="5321808"/>
            <a:ext cx="5486400" cy="557784"/>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 y="5431536"/>
            <a:ext cx="5248656" cy="438912"/>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docs/render-deploy.md / docs/iphone-push.md</a:t>
            </a:r>
          </a:p>
        </p:txBody>
      </p:sp>
      <p:sp>
        <p:nvSpPr>
          <p:cNvPr id="31" name="Rectangle 30"/>
          <p:cNvSpPr/>
          <p:nvPr/>
        </p:nvSpPr>
        <p:spPr>
          <a:xfrm>
            <a:off x="6108192" y="5321808"/>
            <a:ext cx="5468112" cy="557784"/>
          </a:xfrm>
          <a:prstGeom prst="rect">
            <a:avLst/>
          </a:prstGeom>
          <a:solidFill>
            <a:srgbClr val="CFE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27064" y="5431536"/>
            <a:ext cx="5230368" cy="438912"/>
          </a:xfrm>
          <a:prstGeom prst="rect">
            <a:avLst/>
          </a:prstGeom>
          <a:noFill/>
        </p:spPr>
        <p:txBody>
          <a:bodyPr wrap="square" lIns="0" rIns="0" tIns="0" bIns="0">
            <a:spAutoFit/>
          </a:bodyPr>
          <a:lstStyle/>
          <a:p>
            <a:pPr>
              <a:spcAft>
                <a:spcPts val="700"/>
              </a:spcAft>
              <a:defRPr sz="1200" b="0">
                <a:solidFill>
                  <a:srgbClr val="173A35"/>
                </a:solidFill>
                <a:latin typeface="Noto Sans CJK KR"/>
              </a:defRPr>
            </a:pPr>
            <a:r>
              <a:t>Render 배포·자막 API / 아이폰 설치·푸시 설정</a:t>
            </a:r>
          </a:p>
        </p:txBody>
      </p:sp>
      <p:sp>
        <p:nvSpPr>
          <p:cNvPr id="33" name="Rectangle 32"/>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35" name="TextBox 34"/>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31 / 32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9F5"/>
        </a:solidFill>
        <a:effectLst/>
      </p:bgPr>
    </p:bg>
    <p:spTree>
      <p:nvGrpSpPr>
        <p:cNvPr id="1" name=""/>
        <p:cNvGrpSpPr/>
        <p:nvPr/>
      </p:nvGrpSpPr>
      <p:grpSpPr/>
      <p:sp>
        <p:nvSpPr>
          <p:cNvPr id="2" name="Rectangle 1"/>
          <p:cNvSpPr/>
          <p:nvPr/>
        </p:nvSpPr>
        <p:spPr>
          <a:xfrm>
            <a:off x="438912" y="402336"/>
            <a:ext cx="73152" cy="283464"/>
          </a:xfrm>
          <a:prstGeom prst="rect">
            <a:avLst/>
          </a:prstGeom>
          <a:solidFill>
            <a:srgbClr val="6E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058400" cy="274320"/>
          </a:xfrm>
          <a:prstGeom prst="rect">
            <a:avLst/>
          </a:prstGeom>
          <a:noFill/>
        </p:spPr>
        <p:txBody>
          <a:bodyPr wrap="square" lIns="0" rIns="0" tIns="0" bIns="0">
            <a:spAutoFit/>
          </a:bodyPr>
          <a:lstStyle/>
          <a:p>
            <a:pPr>
              <a:spcAft>
                <a:spcPts val="700"/>
              </a:spcAft>
              <a:defRPr sz="1000" b="1">
                <a:solidFill>
                  <a:srgbClr val="58726A"/>
                </a:solidFill>
                <a:latin typeface="Noto Sans CJK KR"/>
              </a:defRPr>
            </a:pPr>
            <a:r>
              <a:t>08 / 데모 가이드</a:t>
            </a:r>
          </a:p>
        </p:txBody>
      </p:sp>
      <p:sp>
        <p:nvSpPr>
          <p:cNvPr id="4" name="TextBox 3"/>
          <p:cNvSpPr txBox="1"/>
          <p:nvPr/>
        </p:nvSpPr>
        <p:spPr>
          <a:xfrm>
            <a:off x="594360" y="896112"/>
            <a:ext cx="11064240" cy="640080"/>
          </a:xfrm>
          <a:prstGeom prst="rect">
            <a:avLst/>
          </a:prstGeom>
          <a:noFill/>
        </p:spPr>
        <p:txBody>
          <a:bodyPr wrap="square" lIns="0" rIns="0" tIns="0" bIns="0">
            <a:spAutoFit/>
          </a:bodyPr>
          <a:lstStyle/>
          <a:p>
            <a:pPr>
              <a:spcAft>
                <a:spcPts val="700"/>
              </a:spcAft>
              <a:defRPr sz="2900" b="1">
                <a:solidFill>
                  <a:srgbClr val="173A35"/>
                </a:solidFill>
                <a:latin typeface="Noto Sans CJK KR"/>
              </a:defRPr>
            </a:pPr>
            <a:r>
              <a:t>발표·시연 순서</a:t>
            </a:r>
          </a:p>
        </p:txBody>
      </p:sp>
      <p:sp>
        <p:nvSpPr>
          <p:cNvPr id="5" name="TextBox 4"/>
          <p:cNvSpPr txBox="1"/>
          <p:nvPr/>
        </p:nvSpPr>
        <p:spPr>
          <a:xfrm>
            <a:off x="731520" y="2011680"/>
            <a:ext cx="594360" cy="411480"/>
          </a:xfrm>
          <a:prstGeom prst="rect">
            <a:avLst/>
          </a:prstGeom>
          <a:noFill/>
        </p:spPr>
        <p:txBody>
          <a:bodyPr wrap="square" lIns="0" rIns="0" tIns="0" bIns="0">
            <a:spAutoFit/>
          </a:bodyPr>
          <a:lstStyle/>
          <a:p>
            <a:pPr>
              <a:spcAft>
                <a:spcPts val="700"/>
              </a:spcAft>
              <a:defRPr sz="2300" b="1">
                <a:solidFill>
                  <a:srgbClr val="6EA89E"/>
                </a:solidFill>
                <a:latin typeface="Noto Sans CJK KR"/>
              </a:defRPr>
            </a:pPr>
            <a:r>
              <a:t>01</a:t>
            </a:r>
          </a:p>
        </p:txBody>
      </p:sp>
      <p:sp>
        <p:nvSpPr>
          <p:cNvPr id="6" name="TextBox 5"/>
          <p:cNvSpPr txBox="1"/>
          <p:nvPr/>
        </p:nvSpPr>
        <p:spPr>
          <a:xfrm>
            <a:off x="1600200" y="2039112"/>
            <a:ext cx="3337560" cy="365760"/>
          </a:xfrm>
          <a:prstGeom prst="rect">
            <a:avLst/>
          </a:prstGeom>
          <a:noFill/>
        </p:spPr>
        <p:txBody>
          <a:bodyPr wrap="square" lIns="0" rIns="0" tIns="0" bIns="0">
            <a:spAutoFit/>
          </a:bodyPr>
          <a:lstStyle/>
          <a:p>
            <a:pPr>
              <a:spcAft>
                <a:spcPts val="700"/>
              </a:spcAft>
              <a:defRPr sz="1900" b="1">
                <a:solidFill>
                  <a:srgbClr val="173A35"/>
                </a:solidFill>
                <a:latin typeface="Noto Sans CJK KR"/>
              </a:defRPr>
            </a:pPr>
            <a:r>
              <a:t>주소에서 시작</a:t>
            </a:r>
          </a:p>
        </p:txBody>
      </p:sp>
      <p:sp>
        <p:nvSpPr>
          <p:cNvPr id="7" name="TextBox 6"/>
          <p:cNvSpPr txBox="1"/>
          <p:nvPr/>
        </p:nvSpPr>
        <p:spPr>
          <a:xfrm>
            <a:off x="5074920" y="2075688"/>
            <a:ext cx="6400800" cy="365760"/>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공개 자막이 있는 영상 URL과 언어 선택</a:t>
            </a:r>
          </a:p>
        </p:txBody>
      </p:sp>
      <p:sp>
        <p:nvSpPr>
          <p:cNvPr id="8" name="TextBox 7"/>
          <p:cNvSpPr txBox="1"/>
          <p:nvPr/>
        </p:nvSpPr>
        <p:spPr>
          <a:xfrm>
            <a:off x="731520" y="2743200"/>
            <a:ext cx="594360" cy="411480"/>
          </a:xfrm>
          <a:prstGeom prst="rect">
            <a:avLst/>
          </a:prstGeom>
          <a:noFill/>
        </p:spPr>
        <p:txBody>
          <a:bodyPr wrap="square" lIns="0" rIns="0" tIns="0" bIns="0">
            <a:spAutoFit/>
          </a:bodyPr>
          <a:lstStyle/>
          <a:p>
            <a:pPr>
              <a:spcAft>
                <a:spcPts val="700"/>
              </a:spcAft>
              <a:defRPr sz="2300" b="1">
                <a:solidFill>
                  <a:srgbClr val="6EA89E"/>
                </a:solidFill>
                <a:latin typeface="Noto Sans CJK KR"/>
              </a:defRPr>
            </a:pPr>
            <a:r>
              <a:t>02</a:t>
            </a:r>
          </a:p>
        </p:txBody>
      </p:sp>
      <p:sp>
        <p:nvSpPr>
          <p:cNvPr id="9" name="TextBox 8"/>
          <p:cNvSpPr txBox="1"/>
          <p:nvPr/>
        </p:nvSpPr>
        <p:spPr>
          <a:xfrm>
            <a:off x="1600200" y="2770632"/>
            <a:ext cx="3337560" cy="365760"/>
          </a:xfrm>
          <a:prstGeom prst="rect">
            <a:avLst/>
          </a:prstGeom>
          <a:noFill/>
        </p:spPr>
        <p:txBody>
          <a:bodyPr wrap="square" lIns="0" rIns="0" tIns="0" bIns="0">
            <a:spAutoFit/>
          </a:bodyPr>
          <a:lstStyle/>
          <a:p>
            <a:pPr>
              <a:spcAft>
                <a:spcPts val="700"/>
              </a:spcAft>
              <a:defRPr sz="1900" b="1">
                <a:solidFill>
                  <a:srgbClr val="173A35"/>
                </a:solidFill>
                <a:latin typeface="Noto Sans CJK KR"/>
              </a:defRPr>
            </a:pPr>
            <a:r>
              <a:t>하나의 표현 수집</a:t>
            </a:r>
          </a:p>
        </p:txBody>
      </p:sp>
      <p:sp>
        <p:nvSpPr>
          <p:cNvPr id="10" name="TextBox 9"/>
          <p:cNvSpPr txBox="1"/>
          <p:nvPr/>
        </p:nvSpPr>
        <p:spPr>
          <a:xfrm>
            <a:off x="5074920" y="2807208"/>
            <a:ext cx="6400800" cy="365760"/>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원형 형광펜 → 선택 → 드래그 또는 수집 버튼</a:t>
            </a:r>
          </a:p>
        </p:txBody>
      </p:sp>
      <p:sp>
        <p:nvSpPr>
          <p:cNvPr id="11" name="TextBox 10"/>
          <p:cNvSpPr txBox="1"/>
          <p:nvPr/>
        </p:nvSpPr>
        <p:spPr>
          <a:xfrm>
            <a:off x="731520" y="3474720"/>
            <a:ext cx="594360" cy="411480"/>
          </a:xfrm>
          <a:prstGeom prst="rect">
            <a:avLst/>
          </a:prstGeom>
          <a:noFill/>
        </p:spPr>
        <p:txBody>
          <a:bodyPr wrap="square" lIns="0" rIns="0" tIns="0" bIns="0">
            <a:spAutoFit/>
          </a:bodyPr>
          <a:lstStyle/>
          <a:p>
            <a:pPr>
              <a:spcAft>
                <a:spcPts val="700"/>
              </a:spcAft>
              <a:defRPr sz="2300" b="1">
                <a:solidFill>
                  <a:srgbClr val="6EA89E"/>
                </a:solidFill>
                <a:latin typeface="Noto Sans CJK KR"/>
              </a:defRPr>
            </a:pPr>
            <a:r>
              <a:t>03</a:t>
            </a:r>
          </a:p>
        </p:txBody>
      </p:sp>
      <p:sp>
        <p:nvSpPr>
          <p:cNvPr id="12" name="TextBox 11"/>
          <p:cNvSpPr txBox="1"/>
          <p:nvPr/>
        </p:nvSpPr>
        <p:spPr>
          <a:xfrm>
            <a:off x="1600200" y="3502152"/>
            <a:ext cx="3337560" cy="365760"/>
          </a:xfrm>
          <a:prstGeom prst="rect">
            <a:avLst/>
          </a:prstGeom>
          <a:noFill/>
        </p:spPr>
        <p:txBody>
          <a:bodyPr wrap="square" lIns="0" rIns="0" tIns="0" bIns="0">
            <a:spAutoFit/>
          </a:bodyPr>
          <a:lstStyle/>
          <a:p>
            <a:pPr>
              <a:spcAft>
                <a:spcPts val="700"/>
              </a:spcAft>
              <a:defRPr sz="1900" b="1">
                <a:solidFill>
                  <a:srgbClr val="173A35"/>
                </a:solidFill>
                <a:latin typeface="Noto Sans CJK KR"/>
              </a:defRPr>
            </a:pPr>
            <a:r>
              <a:t>내 표현으로 만들기</a:t>
            </a:r>
          </a:p>
        </p:txBody>
      </p:sp>
      <p:sp>
        <p:nvSpPr>
          <p:cNvPr id="13" name="TextBox 12"/>
          <p:cNvSpPr txBox="1"/>
          <p:nvPr/>
        </p:nvSpPr>
        <p:spPr>
          <a:xfrm>
            <a:off x="5074920" y="3538728"/>
            <a:ext cx="6400800" cy="365760"/>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내 표현 수집함 → 카드 → 뜻·학습 메모 작성</a:t>
            </a:r>
          </a:p>
        </p:txBody>
      </p:sp>
      <p:sp>
        <p:nvSpPr>
          <p:cNvPr id="14" name="TextBox 13"/>
          <p:cNvSpPr txBox="1"/>
          <p:nvPr/>
        </p:nvSpPr>
        <p:spPr>
          <a:xfrm>
            <a:off x="731520" y="4206240"/>
            <a:ext cx="594360" cy="411480"/>
          </a:xfrm>
          <a:prstGeom prst="rect">
            <a:avLst/>
          </a:prstGeom>
          <a:noFill/>
        </p:spPr>
        <p:txBody>
          <a:bodyPr wrap="square" lIns="0" rIns="0" tIns="0" bIns="0">
            <a:spAutoFit/>
          </a:bodyPr>
          <a:lstStyle/>
          <a:p>
            <a:pPr>
              <a:spcAft>
                <a:spcPts val="700"/>
              </a:spcAft>
              <a:defRPr sz="2300" b="1">
                <a:solidFill>
                  <a:srgbClr val="6EA89E"/>
                </a:solidFill>
                <a:latin typeface="Noto Sans CJK KR"/>
              </a:defRPr>
            </a:pPr>
            <a:r>
              <a:t>04</a:t>
            </a:r>
          </a:p>
        </p:txBody>
      </p:sp>
      <p:sp>
        <p:nvSpPr>
          <p:cNvPr id="15" name="TextBox 14"/>
          <p:cNvSpPr txBox="1"/>
          <p:nvPr/>
        </p:nvSpPr>
        <p:spPr>
          <a:xfrm>
            <a:off x="1600200" y="4233672"/>
            <a:ext cx="3337560" cy="365760"/>
          </a:xfrm>
          <a:prstGeom prst="rect">
            <a:avLst/>
          </a:prstGeom>
          <a:noFill/>
        </p:spPr>
        <p:txBody>
          <a:bodyPr wrap="square" lIns="0" rIns="0" tIns="0" bIns="0">
            <a:spAutoFit/>
          </a:bodyPr>
          <a:lstStyle/>
          <a:p>
            <a:pPr>
              <a:spcAft>
                <a:spcPts val="700"/>
              </a:spcAft>
              <a:defRPr sz="1900" b="1">
                <a:solidFill>
                  <a:srgbClr val="173A35"/>
                </a:solidFill>
                <a:latin typeface="Noto Sans CJK KR"/>
              </a:defRPr>
            </a:pPr>
            <a:r>
              <a:t>직접 발화하기</a:t>
            </a:r>
          </a:p>
        </p:txBody>
      </p:sp>
      <p:sp>
        <p:nvSpPr>
          <p:cNvPr id="16" name="TextBox 15"/>
          <p:cNvSpPr txBox="1"/>
          <p:nvPr/>
        </p:nvSpPr>
        <p:spPr>
          <a:xfrm>
            <a:off x="5074920" y="4270248"/>
            <a:ext cx="6400800" cy="365760"/>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녹음 보관함 → 시작·종료·미리듣기·저장</a:t>
            </a:r>
          </a:p>
        </p:txBody>
      </p:sp>
      <p:sp>
        <p:nvSpPr>
          <p:cNvPr id="17" name="TextBox 16"/>
          <p:cNvSpPr txBox="1"/>
          <p:nvPr/>
        </p:nvSpPr>
        <p:spPr>
          <a:xfrm>
            <a:off x="731520" y="4937760"/>
            <a:ext cx="594360" cy="411480"/>
          </a:xfrm>
          <a:prstGeom prst="rect">
            <a:avLst/>
          </a:prstGeom>
          <a:noFill/>
        </p:spPr>
        <p:txBody>
          <a:bodyPr wrap="square" lIns="0" rIns="0" tIns="0" bIns="0">
            <a:spAutoFit/>
          </a:bodyPr>
          <a:lstStyle/>
          <a:p>
            <a:pPr>
              <a:spcAft>
                <a:spcPts val="700"/>
              </a:spcAft>
              <a:defRPr sz="2300" b="1">
                <a:solidFill>
                  <a:srgbClr val="6EA89E"/>
                </a:solidFill>
                <a:latin typeface="Noto Sans CJK KR"/>
              </a:defRPr>
            </a:pPr>
            <a:r>
              <a:t>05</a:t>
            </a:r>
          </a:p>
        </p:txBody>
      </p:sp>
      <p:sp>
        <p:nvSpPr>
          <p:cNvPr id="18" name="TextBox 17"/>
          <p:cNvSpPr txBox="1"/>
          <p:nvPr/>
        </p:nvSpPr>
        <p:spPr>
          <a:xfrm>
            <a:off x="1600200" y="4965192"/>
            <a:ext cx="3337560" cy="365760"/>
          </a:xfrm>
          <a:prstGeom prst="rect">
            <a:avLst/>
          </a:prstGeom>
          <a:noFill/>
        </p:spPr>
        <p:txBody>
          <a:bodyPr wrap="square" lIns="0" rIns="0" tIns="0" bIns="0">
            <a:spAutoFit/>
          </a:bodyPr>
          <a:lstStyle/>
          <a:p>
            <a:pPr>
              <a:spcAft>
                <a:spcPts val="700"/>
              </a:spcAft>
              <a:defRPr sz="1900" b="1">
                <a:solidFill>
                  <a:srgbClr val="173A35"/>
                </a:solidFill>
                <a:latin typeface="Noto Sans CJK KR"/>
              </a:defRPr>
            </a:pPr>
            <a:r>
              <a:t>자료 보관·다시 만나기</a:t>
            </a:r>
          </a:p>
        </p:txBody>
      </p:sp>
      <p:sp>
        <p:nvSpPr>
          <p:cNvPr id="19" name="TextBox 18"/>
          <p:cNvSpPr txBox="1"/>
          <p:nvPr/>
        </p:nvSpPr>
        <p:spPr>
          <a:xfrm>
            <a:off x="5074920" y="5001768"/>
            <a:ext cx="6400800" cy="365760"/>
          </a:xfrm>
          <a:prstGeom prst="rect">
            <a:avLst/>
          </a:prstGeom>
          <a:noFill/>
        </p:spPr>
        <p:txBody>
          <a:bodyPr wrap="square" lIns="0" rIns="0" tIns="0" bIns="0">
            <a:spAutoFit/>
          </a:bodyPr>
          <a:lstStyle/>
          <a:p>
            <a:pPr>
              <a:spcAft>
                <a:spcPts val="700"/>
              </a:spcAft>
              <a:defRPr sz="1500" b="0">
                <a:solidFill>
                  <a:srgbClr val="58726A"/>
                </a:solidFill>
                <a:latin typeface="Noto Sans CJK KR"/>
              </a:defRPr>
            </a:pPr>
            <a:r>
              <a:t>Sheets 내보내기 / 3일 복습 / 설정 완료 시 예약 알림</a:t>
            </a:r>
          </a:p>
        </p:txBody>
      </p:sp>
      <p:sp>
        <p:nvSpPr>
          <p:cNvPr id="20" name="Rectangle 19"/>
          <p:cNvSpPr/>
          <p:nvPr/>
        </p:nvSpPr>
        <p:spPr>
          <a:xfrm>
            <a:off x="621792" y="6455664"/>
            <a:ext cx="10954512" cy="10972"/>
          </a:xfrm>
          <a:prstGeom prst="rect">
            <a:avLst/>
          </a:prstGeom>
          <a:solidFill>
            <a:srgbClr val="D7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565392"/>
            <a:ext cx="9144000" cy="182880"/>
          </a:xfrm>
          <a:prstGeom prst="rect">
            <a:avLst/>
          </a:prstGeom>
          <a:noFill/>
        </p:spPr>
        <p:txBody>
          <a:bodyPr wrap="square" lIns="0" rIns="0" tIns="0" bIns="0">
            <a:spAutoFit/>
          </a:bodyPr>
          <a:lstStyle/>
          <a:p>
            <a:pPr>
              <a:spcAft>
                <a:spcPts val="700"/>
              </a:spcAft>
              <a:defRPr sz="900" b="0">
                <a:solidFill>
                  <a:srgbClr val="58726A"/>
                </a:solidFill>
                <a:latin typeface="Noto Sans CJK KR"/>
              </a:defRPr>
            </a:pPr>
            <a:r>
              <a:t>말줍  |  프로젝트 기획·제작 문서  |  2026.10.23</a:t>
            </a:r>
          </a:p>
        </p:txBody>
      </p:sp>
      <p:sp>
        <p:nvSpPr>
          <p:cNvPr id="22" name="TextBox 21"/>
          <p:cNvSpPr txBox="1"/>
          <p:nvPr/>
        </p:nvSpPr>
        <p:spPr>
          <a:xfrm>
            <a:off x="10744200" y="6519672"/>
            <a:ext cx="822960" cy="219456"/>
          </a:xfrm>
          <a:prstGeom prst="rect">
            <a:avLst/>
          </a:prstGeom>
          <a:noFill/>
        </p:spPr>
        <p:txBody>
          <a:bodyPr wrap="square" lIns="0" rIns="0" tIns="0" bIns="0">
            <a:spAutoFit/>
          </a:bodyPr>
          <a:lstStyle/>
          <a:p>
            <a:pPr algn="r">
              <a:spcAft>
                <a:spcPts val="700"/>
              </a:spcAft>
              <a:defRPr sz="1000" b="0">
                <a:solidFill>
                  <a:srgbClr val="58726A"/>
                </a:solidFill>
                <a:latin typeface="Noto Sans CJK KR"/>
              </a:defRPr>
            </a:pPr>
            <a:r>
              <a:t>32 / 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말줍 프로젝트 기획·제작 보고서</dc:title>
  <dc:subject>기획 의도, 제작 방법, 사이트맵, 기능과 핵심 코드</dc:subject>
  <dc:creator>말줍 프로젝트</dc:creator>
  <cp:keywords>말줍,기획,제작,사이트맵,웹앱,영어학습,코드</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